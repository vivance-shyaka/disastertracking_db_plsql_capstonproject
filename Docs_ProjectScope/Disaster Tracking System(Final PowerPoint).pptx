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Poppins Bold" charset="1" panose="00000800000000000000"/>
      <p:regular r:id="rId16"/>
    </p:embeddedFont>
    <p:embeddedFont>
      <p:font typeface="Montserrat" charset="1" panose="00000500000000000000"/>
      <p:regular r:id="rId17"/>
    </p:embeddedFont>
    <p:embeddedFont>
      <p:font typeface="Poppins" charset="1" panose="000005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9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jpeg" Type="http://schemas.openxmlformats.org/officeDocument/2006/relationships/image"/><Relationship Id="rId3" Target="../media/image1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13994425" y="2547794"/>
            <a:ext cx="925811" cy="723816"/>
          </a:xfrm>
          <a:custGeom>
            <a:avLst/>
            <a:gdLst/>
            <a:ahLst/>
            <a:cxnLst/>
            <a:rect r="r" b="b" t="t" l="l"/>
            <a:pathLst>
              <a:path h="723816" w="925811">
                <a:moveTo>
                  <a:pt x="0" y="0"/>
                </a:moveTo>
                <a:lnTo>
                  <a:pt x="925811" y="0"/>
                </a:lnTo>
                <a:lnTo>
                  <a:pt x="925811" y="723815"/>
                </a:lnTo>
                <a:lnTo>
                  <a:pt x="0" y="72381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367764" y="7015391"/>
            <a:ext cx="925811" cy="723816"/>
          </a:xfrm>
          <a:custGeom>
            <a:avLst/>
            <a:gdLst/>
            <a:ahLst/>
            <a:cxnLst/>
            <a:rect r="r" b="b" t="t" l="l"/>
            <a:pathLst>
              <a:path h="723816" w="925811">
                <a:moveTo>
                  <a:pt x="0" y="0"/>
                </a:moveTo>
                <a:lnTo>
                  <a:pt x="925811" y="0"/>
                </a:lnTo>
                <a:lnTo>
                  <a:pt x="925811" y="723815"/>
                </a:lnTo>
                <a:lnTo>
                  <a:pt x="0" y="72381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367764" y="3147784"/>
            <a:ext cx="11552472" cy="26005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048"/>
              </a:lnSpc>
            </a:pPr>
            <a:r>
              <a:rPr lang="en-US" b="true" sz="8000" spc="752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Disaster Tracking System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525351" y="6009449"/>
            <a:ext cx="7237297" cy="1005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19"/>
              </a:lnSpc>
            </a:pPr>
            <a:r>
              <a:rPr lang="en-US" sz="3200" spc="3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St</a:t>
            </a:r>
            <a:r>
              <a:rPr lang="en-US" sz="3200" spc="3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udent: Shyaka Vivance (ID: 27237)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983011" y="9158315"/>
            <a:ext cx="3276289" cy="199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91"/>
              </a:lnSpc>
            </a:pPr>
            <a:r>
              <a:rPr lang="en-US" sz="1346" spc="126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2024-2025 Academic Year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2322051">
            <a:off x="3686901" y="4520414"/>
            <a:ext cx="16913687" cy="2890703"/>
          </a:xfrm>
          <a:custGeom>
            <a:avLst/>
            <a:gdLst/>
            <a:ahLst/>
            <a:cxnLst/>
            <a:rect r="r" b="b" t="t" l="l"/>
            <a:pathLst>
              <a:path h="2890703" w="16913687">
                <a:moveTo>
                  <a:pt x="0" y="0"/>
                </a:moveTo>
                <a:lnTo>
                  <a:pt x="16913687" y="0"/>
                </a:lnTo>
                <a:lnTo>
                  <a:pt x="16913687" y="2890703"/>
                </a:lnTo>
                <a:lnTo>
                  <a:pt x="0" y="28907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403668"/>
            <a:ext cx="5476452" cy="625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4"/>
              </a:lnSpc>
            </a:pPr>
            <a:r>
              <a:rPr lang="en-US" b="true" sz="3682" spc="346">
                <a:solidFill>
                  <a:srgbClr val="6ABB43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Overview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0" y="2207719"/>
            <a:ext cx="18010735" cy="7458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41118" indent="-420559" lvl="1">
              <a:lnSpc>
                <a:spcPts val="4893"/>
              </a:lnSpc>
              <a:buFont typeface="Arial"/>
              <a:buChar char="•"/>
            </a:pPr>
            <a:r>
              <a:rPr lang="en-US" sz="3895" spc="366">
                <a:solidFill>
                  <a:srgbClr val="03180C"/>
                </a:solidFill>
                <a:latin typeface="Poppins"/>
                <a:ea typeface="Poppins"/>
                <a:cs typeface="Poppins"/>
                <a:sym typeface="Poppins"/>
              </a:rPr>
              <a:t>This project provides a robust database-backed system to log, track, and respond to disasters efficiently.</a:t>
            </a:r>
          </a:p>
          <a:p>
            <a:pPr algn="l">
              <a:lnSpc>
                <a:spcPts val="4893"/>
              </a:lnSpc>
            </a:pPr>
          </a:p>
          <a:p>
            <a:pPr algn="l" marL="841118" indent="-420559" lvl="1">
              <a:lnSpc>
                <a:spcPts val="4893"/>
              </a:lnSpc>
              <a:buFont typeface="Arial"/>
              <a:buChar char="•"/>
            </a:pPr>
            <a:r>
              <a:rPr lang="en-US" sz="3895" spc="366">
                <a:solidFill>
                  <a:srgbClr val="03180C"/>
                </a:solidFill>
                <a:latin typeface="Poppins"/>
                <a:ea typeface="Poppins"/>
                <a:cs typeface="Poppins"/>
                <a:sym typeface="Poppins"/>
              </a:rPr>
              <a:t>Designed to support different users such as citizens, response teams, administrators, and NGOs</a:t>
            </a:r>
          </a:p>
          <a:p>
            <a:pPr algn="l">
              <a:lnSpc>
                <a:spcPts val="4893"/>
              </a:lnSpc>
            </a:pPr>
          </a:p>
          <a:p>
            <a:pPr algn="l" marL="841118" indent="-420559" lvl="1">
              <a:lnSpc>
                <a:spcPts val="4893"/>
              </a:lnSpc>
              <a:buFont typeface="Arial"/>
              <a:buChar char="•"/>
            </a:pPr>
            <a:r>
              <a:rPr lang="en-US" sz="3895" spc="366">
                <a:solidFill>
                  <a:srgbClr val="03180C"/>
                </a:solidFill>
                <a:latin typeface="Poppins"/>
                <a:ea typeface="Poppins"/>
                <a:cs typeface="Poppins"/>
                <a:sym typeface="Poppins"/>
              </a:rPr>
              <a:t>The solution integrates Oracle Database, PL/SQL, GitHub for versioning, BPMN.io for process modeling, and OEM Express for monitoring.</a:t>
            </a:r>
          </a:p>
          <a:p>
            <a:pPr algn="l">
              <a:lnSpc>
                <a:spcPts val="4893"/>
              </a:lnSpc>
            </a:pPr>
          </a:p>
          <a:p>
            <a:pPr algn="l" marL="841118" indent="-420559" lvl="1">
              <a:lnSpc>
                <a:spcPts val="4893"/>
              </a:lnSpc>
              <a:buFont typeface="Arial"/>
              <a:buChar char="•"/>
            </a:pPr>
            <a:r>
              <a:rPr lang="en-US" sz="3895" spc="366">
                <a:solidFill>
                  <a:srgbClr val="03180C"/>
                </a:solidFill>
                <a:latin typeface="Poppins"/>
                <a:ea typeface="Poppins"/>
                <a:cs typeface="Poppins"/>
                <a:sym typeface="Poppins"/>
              </a:rPr>
              <a:t>Key features: structured reporting, audit logging, automated workflows, SLA compliance.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2B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93016" y="399178"/>
            <a:ext cx="9087612" cy="2205827"/>
            <a:chOff x="0" y="0"/>
            <a:chExt cx="2393445" cy="58095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93445" cy="580958"/>
            </a:xfrm>
            <a:custGeom>
              <a:avLst/>
              <a:gdLst/>
              <a:ahLst/>
              <a:cxnLst/>
              <a:rect r="r" b="b" t="t" l="l"/>
              <a:pathLst>
                <a:path h="580958" w="2393445">
                  <a:moveTo>
                    <a:pt x="9371" y="0"/>
                  </a:moveTo>
                  <a:lnTo>
                    <a:pt x="2384074" y="0"/>
                  </a:lnTo>
                  <a:cubicBezTo>
                    <a:pt x="2389250" y="0"/>
                    <a:pt x="2393445" y="4196"/>
                    <a:pt x="2393445" y="9371"/>
                  </a:cubicBezTo>
                  <a:lnTo>
                    <a:pt x="2393445" y="571587"/>
                  </a:lnTo>
                  <a:cubicBezTo>
                    <a:pt x="2393445" y="576763"/>
                    <a:pt x="2389250" y="580958"/>
                    <a:pt x="2384074" y="580958"/>
                  </a:cubicBezTo>
                  <a:lnTo>
                    <a:pt x="9371" y="580958"/>
                  </a:lnTo>
                  <a:cubicBezTo>
                    <a:pt x="4196" y="580958"/>
                    <a:pt x="0" y="576763"/>
                    <a:pt x="0" y="571587"/>
                  </a:cubicBezTo>
                  <a:lnTo>
                    <a:pt x="0" y="9371"/>
                  </a:lnTo>
                  <a:cubicBezTo>
                    <a:pt x="0" y="4196"/>
                    <a:pt x="4196" y="0"/>
                    <a:pt x="9371" y="0"/>
                  </a:cubicBezTo>
                  <a:close/>
                </a:path>
              </a:pathLst>
            </a:custGeom>
            <a:solidFill>
              <a:srgbClr val="EBE1DB">
                <a:alpha val="9804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2393445" cy="628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37651" y="2965874"/>
            <a:ext cx="9087612" cy="2213639"/>
            <a:chOff x="0" y="0"/>
            <a:chExt cx="2393445" cy="5830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93445" cy="583016"/>
            </a:xfrm>
            <a:custGeom>
              <a:avLst/>
              <a:gdLst/>
              <a:ahLst/>
              <a:cxnLst/>
              <a:rect r="r" b="b" t="t" l="l"/>
              <a:pathLst>
                <a:path h="583016" w="2393445">
                  <a:moveTo>
                    <a:pt x="9371" y="0"/>
                  </a:moveTo>
                  <a:lnTo>
                    <a:pt x="2384074" y="0"/>
                  </a:lnTo>
                  <a:cubicBezTo>
                    <a:pt x="2389250" y="0"/>
                    <a:pt x="2393445" y="4196"/>
                    <a:pt x="2393445" y="9371"/>
                  </a:cubicBezTo>
                  <a:lnTo>
                    <a:pt x="2393445" y="573645"/>
                  </a:lnTo>
                  <a:cubicBezTo>
                    <a:pt x="2393445" y="578820"/>
                    <a:pt x="2389250" y="583016"/>
                    <a:pt x="2384074" y="583016"/>
                  </a:cubicBezTo>
                  <a:lnTo>
                    <a:pt x="9371" y="583016"/>
                  </a:lnTo>
                  <a:cubicBezTo>
                    <a:pt x="4196" y="583016"/>
                    <a:pt x="0" y="578820"/>
                    <a:pt x="0" y="573645"/>
                  </a:cubicBezTo>
                  <a:lnTo>
                    <a:pt x="0" y="9371"/>
                  </a:lnTo>
                  <a:cubicBezTo>
                    <a:pt x="0" y="4196"/>
                    <a:pt x="4196" y="0"/>
                    <a:pt x="9371" y="0"/>
                  </a:cubicBezTo>
                  <a:close/>
                </a:path>
              </a:pathLst>
            </a:custGeom>
            <a:solidFill>
              <a:srgbClr val="EBE1DB">
                <a:alpha val="9804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393445" cy="6306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693016" y="5550988"/>
            <a:ext cx="9087612" cy="2205827"/>
            <a:chOff x="0" y="0"/>
            <a:chExt cx="2393445" cy="58095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93445" cy="580958"/>
            </a:xfrm>
            <a:custGeom>
              <a:avLst/>
              <a:gdLst/>
              <a:ahLst/>
              <a:cxnLst/>
              <a:rect r="r" b="b" t="t" l="l"/>
              <a:pathLst>
                <a:path h="580958" w="2393445">
                  <a:moveTo>
                    <a:pt x="9371" y="0"/>
                  </a:moveTo>
                  <a:lnTo>
                    <a:pt x="2384074" y="0"/>
                  </a:lnTo>
                  <a:cubicBezTo>
                    <a:pt x="2389250" y="0"/>
                    <a:pt x="2393445" y="4196"/>
                    <a:pt x="2393445" y="9371"/>
                  </a:cubicBezTo>
                  <a:lnTo>
                    <a:pt x="2393445" y="571587"/>
                  </a:lnTo>
                  <a:cubicBezTo>
                    <a:pt x="2393445" y="576763"/>
                    <a:pt x="2389250" y="580958"/>
                    <a:pt x="2384074" y="580958"/>
                  </a:cubicBezTo>
                  <a:lnTo>
                    <a:pt x="9371" y="580958"/>
                  </a:lnTo>
                  <a:cubicBezTo>
                    <a:pt x="4196" y="580958"/>
                    <a:pt x="0" y="576763"/>
                    <a:pt x="0" y="571587"/>
                  </a:cubicBezTo>
                  <a:lnTo>
                    <a:pt x="0" y="9371"/>
                  </a:lnTo>
                  <a:cubicBezTo>
                    <a:pt x="0" y="4196"/>
                    <a:pt x="4196" y="0"/>
                    <a:pt x="9371" y="0"/>
                  </a:cubicBezTo>
                  <a:close/>
                </a:path>
              </a:pathLst>
            </a:custGeom>
            <a:solidFill>
              <a:srgbClr val="EBE1DB">
                <a:alpha val="9804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2393445" cy="628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637651" y="399178"/>
            <a:ext cx="211970" cy="2205827"/>
            <a:chOff x="0" y="0"/>
            <a:chExt cx="55828" cy="58095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5828" cy="580958"/>
            </a:xfrm>
            <a:custGeom>
              <a:avLst/>
              <a:gdLst/>
              <a:ahLst/>
              <a:cxnLst/>
              <a:rect r="r" b="b" t="t" l="l"/>
              <a:pathLst>
                <a:path h="580958" w="55828">
                  <a:moveTo>
                    <a:pt x="0" y="0"/>
                  </a:moveTo>
                  <a:lnTo>
                    <a:pt x="55828" y="0"/>
                  </a:lnTo>
                  <a:lnTo>
                    <a:pt x="55828" y="580958"/>
                  </a:lnTo>
                  <a:lnTo>
                    <a:pt x="0" y="580958"/>
                  </a:ln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55828" cy="628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7587031" y="2973686"/>
            <a:ext cx="211970" cy="2205827"/>
            <a:chOff x="0" y="0"/>
            <a:chExt cx="55828" cy="58095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5828" cy="580958"/>
            </a:xfrm>
            <a:custGeom>
              <a:avLst/>
              <a:gdLst/>
              <a:ahLst/>
              <a:cxnLst/>
              <a:rect r="r" b="b" t="t" l="l"/>
              <a:pathLst>
                <a:path h="580958" w="55828">
                  <a:moveTo>
                    <a:pt x="0" y="0"/>
                  </a:moveTo>
                  <a:lnTo>
                    <a:pt x="55828" y="0"/>
                  </a:lnTo>
                  <a:lnTo>
                    <a:pt x="55828" y="580958"/>
                  </a:lnTo>
                  <a:lnTo>
                    <a:pt x="0" y="580958"/>
                  </a:ln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55828" cy="628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7531666" y="5541463"/>
            <a:ext cx="211970" cy="2205827"/>
            <a:chOff x="0" y="0"/>
            <a:chExt cx="55828" cy="58095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5828" cy="580958"/>
            </a:xfrm>
            <a:custGeom>
              <a:avLst/>
              <a:gdLst/>
              <a:ahLst/>
              <a:cxnLst/>
              <a:rect r="r" b="b" t="t" l="l"/>
              <a:pathLst>
                <a:path h="580958" w="55828">
                  <a:moveTo>
                    <a:pt x="0" y="0"/>
                  </a:moveTo>
                  <a:lnTo>
                    <a:pt x="55828" y="0"/>
                  </a:lnTo>
                  <a:lnTo>
                    <a:pt x="55828" y="580958"/>
                  </a:lnTo>
                  <a:lnTo>
                    <a:pt x="0" y="580958"/>
                  </a:ln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55828" cy="628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806024" y="1426444"/>
            <a:ext cx="6430415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Current disaster response systems lack centralized control, timely communication, and data traceability.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752886" y="3996482"/>
            <a:ext cx="6430415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Automate data entry, validate and classify reports, assign response teams, and log all actions securely.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806024" y="6625326"/>
            <a:ext cx="6430415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Digital transformation requires embracing change, adapting to new technologies, and collaborating effectively.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752886" y="651105"/>
            <a:ext cx="4714399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7"/>
              </a:lnSpc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806024" y="3220842"/>
            <a:ext cx="4714399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7"/>
              </a:lnSpc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Goal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14799" y="4261560"/>
            <a:ext cx="5389245" cy="1351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8"/>
              </a:lnSpc>
            </a:pPr>
            <a:r>
              <a:rPr lang="en-US" b="true" sz="4146" spc="389">
                <a:solidFill>
                  <a:srgbClr val="6ABB43"/>
                </a:solidFill>
                <a:latin typeface="Poppins Bold"/>
                <a:ea typeface="Poppins Bold"/>
                <a:cs typeface="Poppins Bold"/>
                <a:sym typeface="Poppins Bold"/>
              </a:rPr>
              <a:t>Requirements and Scope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752886" y="5798638"/>
            <a:ext cx="4714399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7"/>
              </a:lnSpc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Use Cases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7743637" y="8081173"/>
            <a:ext cx="9087612" cy="2205827"/>
            <a:chOff x="0" y="0"/>
            <a:chExt cx="2393445" cy="58095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393445" cy="580958"/>
            </a:xfrm>
            <a:custGeom>
              <a:avLst/>
              <a:gdLst/>
              <a:ahLst/>
              <a:cxnLst/>
              <a:rect r="r" b="b" t="t" l="l"/>
              <a:pathLst>
                <a:path h="580958" w="2393445">
                  <a:moveTo>
                    <a:pt x="9371" y="0"/>
                  </a:moveTo>
                  <a:lnTo>
                    <a:pt x="2384074" y="0"/>
                  </a:lnTo>
                  <a:cubicBezTo>
                    <a:pt x="2389250" y="0"/>
                    <a:pt x="2393445" y="4196"/>
                    <a:pt x="2393445" y="9371"/>
                  </a:cubicBezTo>
                  <a:lnTo>
                    <a:pt x="2393445" y="571587"/>
                  </a:lnTo>
                  <a:cubicBezTo>
                    <a:pt x="2393445" y="576763"/>
                    <a:pt x="2389250" y="580958"/>
                    <a:pt x="2384074" y="580958"/>
                  </a:cubicBezTo>
                  <a:lnTo>
                    <a:pt x="9371" y="580958"/>
                  </a:lnTo>
                  <a:cubicBezTo>
                    <a:pt x="4196" y="580958"/>
                    <a:pt x="0" y="576763"/>
                    <a:pt x="0" y="571587"/>
                  </a:cubicBezTo>
                  <a:lnTo>
                    <a:pt x="0" y="9371"/>
                  </a:lnTo>
                  <a:cubicBezTo>
                    <a:pt x="0" y="4196"/>
                    <a:pt x="4196" y="0"/>
                    <a:pt x="9371" y="0"/>
                  </a:cubicBezTo>
                  <a:close/>
                </a:path>
              </a:pathLst>
            </a:custGeom>
            <a:solidFill>
              <a:srgbClr val="EBE1DB">
                <a:alpha val="9804"/>
              </a:srgbClr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2393445" cy="628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7531666" y="8081173"/>
            <a:ext cx="211970" cy="2205827"/>
            <a:chOff x="0" y="0"/>
            <a:chExt cx="55828" cy="58095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5828" cy="580958"/>
            </a:xfrm>
            <a:custGeom>
              <a:avLst/>
              <a:gdLst/>
              <a:ahLst/>
              <a:cxnLst/>
              <a:rect r="r" b="b" t="t" l="l"/>
              <a:pathLst>
                <a:path h="580958" w="55828">
                  <a:moveTo>
                    <a:pt x="0" y="0"/>
                  </a:moveTo>
                  <a:lnTo>
                    <a:pt x="55828" y="0"/>
                  </a:lnTo>
                  <a:lnTo>
                    <a:pt x="55828" y="580958"/>
                  </a:lnTo>
                  <a:lnTo>
                    <a:pt x="0" y="580958"/>
                  </a:ln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55828" cy="628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9752886" y="8375939"/>
            <a:ext cx="4714399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7"/>
              </a:lnSpc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Users &amp; Stakeholders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752886" y="8973820"/>
            <a:ext cx="6430415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Citizens, Admins, Government Agencies, Response Teams, NGOs.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595590" y="8012719"/>
            <a:ext cx="6627664" cy="2205827"/>
            <a:chOff x="0" y="0"/>
            <a:chExt cx="1745558" cy="58095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745558" cy="580958"/>
            </a:xfrm>
            <a:custGeom>
              <a:avLst/>
              <a:gdLst/>
              <a:ahLst/>
              <a:cxnLst/>
              <a:rect r="r" b="b" t="t" l="l"/>
              <a:pathLst>
                <a:path h="580958" w="1745558">
                  <a:moveTo>
                    <a:pt x="12849" y="0"/>
                  </a:moveTo>
                  <a:lnTo>
                    <a:pt x="1732708" y="0"/>
                  </a:lnTo>
                  <a:cubicBezTo>
                    <a:pt x="1736116" y="0"/>
                    <a:pt x="1739384" y="1354"/>
                    <a:pt x="1741794" y="3763"/>
                  </a:cubicBezTo>
                  <a:cubicBezTo>
                    <a:pt x="1744204" y="6173"/>
                    <a:pt x="1745558" y="9441"/>
                    <a:pt x="1745558" y="12849"/>
                  </a:cubicBezTo>
                  <a:lnTo>
                    <a:pt x="1745558" y="568109"/>
                  </a:lnTo>
                  <a:cubicBezTo>
                    <a:pt x="1745558" y="575206"/>
                    <a:pt x="1739805" y="580958"/>
                    <a:pt x="1732708" y="580958"/>
                  </a:cubicBezTo>
                  <a:lnTo>
                    <a:pt x="12849" y="580958"/>
                  </a:lnTo>
                  <a:cubicBezTo>
                    <a:pt x="5753" y="580958"/>
                    <a:pt x="0" y="575206"/>
                    <a:pt x="0" y="568109"/>
                  </a:cubicBezTo>
                  <a:lnTo>
                    <a:pt x="0" y="12849"/>
                  </a:lnTo>
                  <a:cubicBezTo>
                    <a:pt x="0" y="5753"/>
                    <a:pt x="5753" y="0"/>
                    <a:pt x="12849" y="0"/>
                  </a:cubicBezTo>
                  <a:close/>
                </a:path>
              </a:pathLst>
            </a:custGeom>
            <a:solidFill>
              <a:srgbClr val="EBE1DB">
                <a:alpha val="9804"/>
              </a:srgbClr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745558" cy="628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489605" y="8012719"/>
            <a:ext cx="211970" cy="2205827"/>
            <a:chOff x="0" y="0"/>
            <a:chExt cx="55828" cy="58095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5828" cy="580958"/>
            </a:xfrm>
            <a:custGeom>
              <a:avLst/>
              <a:gdLst/>
              <a:ahLst/>
              <a:cxnLst/>
              <a:rect r="r" b="b" t="t" l="l"/>
              <a:pathLst>
                <a:path h="580958" w="55828">
                  <a:moveTo>
                    <a:pt x="0" y="0"/>
                  </a:moveTo>
                  <a:lnTo>
                    <a:pt x="55828" y="0"/>
                  </a:lnTo>
                  <a:lnTo>
                    <a:pt x="55828" y="580958"/>
                  </a:lnTo>
                  <a:lnTo>
                    <a:pt x="0" y="580958"/>
                  </a:ln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55828" cy="628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1028700" y="8057500"/>
            <a:ext cx="4714399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7"/>
              </a:lnSpc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Scope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28700" y="8831153"/>
            <a:ext cx="5927244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Focused on database logic, audit control, and BPMN-modeled workflows.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B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28280" y="1834896"/>
            <a:ext cx="6627664" cy="8107086"/>
            <a:chOff x="0" y="0"/>
            <a:chExt cx="1745558" cy="2135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45558" cy="2135200"/>
            </a:xfrm>
            <a:custGeom>
              <a:avLst/>
              <a:gdLst/>
              <a:ahLst/>
              <a:cxnLst/>
              <a:rect r="r" b="b" t="t" l="l"/>
              <a:pathLst>
                <a:path h="2135200" w="1745558">
                  <a:moveTo>
                    <a:pt x="12849" y="0"/>
                  </a:moveTo>
                  <a:lnTo>
                    <a:pt x="1732708" y="0"/>
                  </a:lnTo>
                  <a:cubicBezTo>
                    <a:pt x="1736116" y="0"/>
                    <a:pt x="1739384" y="1354"/>
                    <a:pt x="1741794" y="3763"/>
                  </a:cubicBezTo>
                  <a:cubicBezTo>
                    <a:pt x="1744204" y="6173"/>
                    <a:pt x="1745558" y="9441"/>
                    <a:pt x="1745558" y="12849"/>
                  </a:cubicBezTo>
                  <a:lnTo>
                    <a:pt x="1745558" y="2122350"/>
                  </a:lnTo>
                  <a:cubicBezTo>
                    <a:pt x="1745558" y="2129447"/>
                    <a:pt x="1739805" y="2135200"/>
                    <a:pt x="1732708" y="2135200"/>
                  </a:cubicBezTo>
                  <a:lnTo>
                    <a:pt x="12849" y="2135200"/>
                  </a:lnTo>
                  <a:cubicBezTo>
                    <a:pt x="9441" y="2135200"/>
                    <a:pt x="6173" y="2133846"/>
                    <a:pt x="3763" y="2131436"/>
                  </a:cubicBezTo>
                  <a:cubicBezTo>
                    <a:pt x="1354" y="2129026"/>
                    <a:pt x="0" y="2125758"/>
                    <a:pt x="0" y="2122350"/>
                  </a:cubicBezTo>
                  <a:lnTo>
                    <a:pt x="0" y="12849"/>
                  </a:lnTo>
                  <a:cubicBezTo>
                    <a:pt x="0" y="5753"/>
                    <a:pt x="5753" y="0"/>
                    <a:pt x="12849" y="0"/>
                  </a:cubicBezTo>
                  <a:close/>
                </a:path>
              </a:pathLst>
            </a:custGeom>
            <a:solidFill>
              <a:srgbClr val="EBE1DB">
                <a:alpha val="9804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745558" cy="2182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1834896"/>
            <a:ext cx="489605" cy="8107086"/>
            <a:chOff x="0" y="0"/>
            <a:chExt cx="128949" cy="21352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8949" cy="2135200"/>
            </a:xfrm>
            <a:custGeom>
              <a:avLst/>
              <a:gdLst/>
              <a:ahLst/>
              <a:cxnLst/>
              <a:rect r="r" b="b" t="t" l="l"/>
              <a:pathLst>
                <a:path h="2135200" w="128949">
                  <a:moveTo>
                    <a:pt x="0" y="0"/>
                  </a:moveTo>
                  <a:lnTo>
                    <a:pt x="128949" y="0"/>
                  </a:lnTo>
                  <a:lnTo>
                    <a:pt x="128949" y="2135200"/>
                  </a:lnTo>
                  <a:lnTo>
                    <a:pt x="0" y="2135200"/>
                  </a:ln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28949" cy="2182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223254" y="1028700"/>
            <a:ext cx="10815107" cy="6370124"/>
            <a:chOff x="0" y="0"/>
            <a:chExt cx="1675543" cy="98689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75543" cy="986899"/>
            </a:xfrm>
            <a:custGeom>
              <a:avLst/>
              <a:gdLst/>
              <a:ahLst/>
              <a:cxnLst/>
              <a:rect r="r" b="b" t="t" l="l"/>
              <a:pathLst>
                <a:path h="986899" w="1675543">
                  <a:moveTo>
                    <a:pt x="0" y="0"/>
                  </a:moveTo>
                  <a:lnTo>
                    <a:pt x="1675543" y="0"/>
                  </a:lnTo>
                  <a:lnTo>
                    <a:pt x="1675543" y="986899"/>
                  </a:lnTo>
                  <a:lnTo>
                    <a:pt x="0" y="986899"/>
                  </a:lnTo>
                  <a:close/>
                </a:path>
              </a:pathLst>
            </a:custGeom>
            <a:blipFill>
              <a:blip r:embed="rId2"/>
              <a:stretch>
                <a:fillRect l="-1915" t="0" r="-1915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489605" y="334293"/>
            <a:ext cx="5389245" cy="694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8"/>
              </a:lnSpc>
            </a:pPr>
            <a:r>
              <a:rPr lang="en-US" b="true" sz="4146" spc="389">
                <a:solidFill>
                  <a:srgbClr val="6ABB43"/>
                </a:solidFill>
                <a:latin typeface="Poppins Bold"/>
                <a:ea typeface="Poppins Bold"/>
                <a:cs typeface="Poppins Bold"/>
                <a:sym typeface="Poppins Bold"/>
              </a:rPr>
              <a:t>BPMN Modeling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27028" y="2103308"/>
            <a:ext cx="6128916" cy="1013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Used bpmn.io to model the entire disaster reporting and resolution workflow.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27864" y="3929282"/>
            <a:ext cx="5927244" cy="2197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Citizen/Reporter: Triggers disaster events, submits reports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System: Validates input, logs data, restricts operations on holidays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Admin: Confirms severity, assigns teams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 Response Team: Executes actions, evaluates needs, locates individuals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NGO Coordinator: Delivers aid, coordinates supplies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26192" y="3349670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Swimlanes: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27028" y="6355617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Includes: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6674057"/>
            <a:ext cx="5927244" cy="816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Message Flows between lanes (e.g., Citizen → System)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Exclusive Gateways for conditions (e.g., “Is report valid?”)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27864" y="8033592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Output: Exported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29536" y="8609207"/>
            <a:ext cx="5927244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.bpmn and .png for documentation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B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28280" y="1834896"/>
            <a:ext cx="6627664" cy="8107086"/>
            <a:chOff x="0" y="0"/>
            <a:chExt cx="1745558" cy="2135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45558" cy="2135200"/>
            </a:xfrm>
            <a:custGeom>
              <a:avLst/>
              <a:gdLst/>
              <a:ahLst/>
              <a:cxnLst/>
              <a:rect r="r" b="b" t="t" l="l"/>
              <a:pathLst>
                <a:path h="2135200" w="1745558">
                  <a:moveTo>
                    <a:pt x="12849" y="0"/>
                  </a:moveTo>
                  <a:lnTo>
                    <a:pt x="1732708" y="0"/>
                  </a:lnTo>
                  <a:cubicBezTo>
                    <a:pt x="1736116" y="0"/>
                    <a:pt x="1739384" y="1354"/>
                    <a:pt x="1741794" y="3763"/>
                  </a:cubicBezTo>
                  <a:cubicBezTo>
                    <a:pt x="1744204" y="6173"/>
                    <a:pt x="1745558" y="9441"/>
                    <a:pt x="1745558" y="12849"/>
                  </a:cubicBezTo>
                  <a:lnTo>
                    <a:pt x="1745558" y="2122350"/>
                  </a:lnTo>
                  <a:cubicBezTo>
                    <a:pt x="1745558" y="2129447"/>
                    <a:pt x="1739805" y="2135200"/>
                    <a:pt x="1732708" y="2135200"/>
                  </a:cubicBezTo>
                  <a:lnTo>
                    <a:pt x="12849" y="2135200"/>
                  </a:lnTo>
                  <a:cubicBezTo>
                    <a:pt x="9441" y="2135200"/>
                    <a:pt x="6173" y="2133846"/>
                    <a:pt x="3763" y="2131436"/>
                  </a:cubicBezTo>
                  <a:cubicBezTo>
                    <a:pt x="1354" y="2129026"/>
                    <a:pt x="0" y="2125758"/>
                    <a:pt x="0" y="2122350"/>
                  </a:cubicBezTo>
                  <a:lnTo>
                    <a:pt x="0" y="12849"/>
                  </a:lnTo>
                  <a:cubicBezTo>
                    <a:pt x="0" y="5753"/>
                    <a:pt x="5753" y="0"/>
                    <a:pt x="12849" y="0"/>
                  </a:cubicBezTo>
                  <a:close/>
                </a:path>
              </a:pathLst>
            </a:custGeom>
            <a:solidFill>
              <a:srgbClr val="EBE1DB">
                <a:alpha val="9804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745558" cy="2182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1834896"/>
            <a:ext cx="489605" cy="8107086"/>
            <a:chOff x="0" y="0"/>
            <a:chExt cx="128949" cy="21352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8949" cy="2135200"/>
            </a:xfrm>
            <a:custGeom>
              <a:avLst/>
              <a:gdLst/>
              <a:ahLst/>
              <a:cxnLst/>
              <a:rect r="r" b="b" t="t" l="l"/>
              <a:pathLst>
                <a:path h="2135200" w="128949">
                  <a:moveTo>
                    <a:pt x="0" y="0"/>
                  </a:moveTo>
                  <a:lnTo>
                    <a:pt x="128949" y="0"/>
                  </a:lnTo>
                  <a:lnTo>
                    <a:pt x="128949" y="2135200"/>
                  </a:lnTo>
                  <a:lnTo>
                    <a:pt x="0" y="2135200"/>
                  </a:ln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28949" cy="2182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223254" y="400968"/>
            <a:ext cx="10815107" cy="9709389"/>
            <a:chOff x="0" y="0"/>
            <a:chExt cx="1675543" cy="150423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75543" cy="1504239"/>
            </a:xfrm>
            <a:custGeom>
              <a:avLst/>
              <a:gdLst/>
              <a:ahLst/>
              <a:cxnLst/>
              <a:rect r="r" b="b" t="t" l="l"/>
              <a:pathLst>
                <a:path h="1504239" w="1675543">
                  <a:moveTo>
                    <a:pt x="0" y="0"/>
                  </a:moveTo>
                  <a:lnTo>
                    <a:pt x="1675543" y="0"/>
                  </a:lnTo>
                  <a:lnTo>
                    <a:pt x="1675543" y="1504239"/>
                  </a:lnTo>
                  <a:lnTo>
                    <a:pt x="0" y="1504239"/>
                  </a:lnTo>
                  <a:close/>
                </a:path>
              </a:pathLst>
            </a:custGeom>
            <a:blipFill>
              <a:blip r:embed="rId2"/>
              <a:stretch>
                <a:fillRect l="0" t="-8346" r="0" b="-8346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489605" y="334293"/>
            <a:ext cx="5389245" cy="694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8"/>
              </a:lnSpc>
            </a:pPr>
            <a:r>
              <a:rPr lang="en-US" b="true" sz="4146" spc="389">
                <a:solidFill>
                  <a:srgbClr val="6ABB43"/>
                </a:solidFill>
                <a:latin typeface="Poppins Bold"/>
                <a:ea typeface="Poppins Bold"/>
                <a:cs typeface="Poppins Bold"/>
                <a:sym typeface="Poppins Bold"/>
              </a:rPr>
              <a:t>ERD Design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27028" y="2103308"/>
            <a:ext cx="6128916" cy="1013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Entity-Relationship Diagram captures logical structure of the database.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27864" y="3929282"/>
            <a:ext cx="5927244" cy="164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Disaster(id, type, location, severity, date, status)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Response_Team(id, name, specialty, availability)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Resource(id, name, type, quantity)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Affected_Individual(id, name, age, status, disaster_id)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Team_Assignment(team_id, disaster_id, assigned_date)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26192" y="3349670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Key Entities: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27028" y="5803167"/>
            <a:ext cx="6128916" cy="6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Constraints: PKs, FKs, unique indexes.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27028" y="6980277"/>
            <a:ext cx="6128916" cy="1013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Normalization: Applied to 3rd Normal Form (3NF) to eliminate redundancy.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27028" y="8489342"/>
            <a:ext cx="6128916" cy="1013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Tools used: SQL Developer ERD viewer, optionally verified in draw.io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B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28280" y="1834896"/>
            <a:ext cx="6627664" cy="8107086"/>
            <a:chOff x="0" y="0"/>
            <a:chExt cx="1745558" cy="2135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45558" cy="2135200"/>
            </a:xfrm>
            <a:custGeom>
              <a:avLst/>
              <a:gdLst/>
              <a:ahLst/>
              <a:cxnLst/>
              <a:rect r="r" b="b" t="t" l="l"/>
              <a:pathLst>
                <a:path h="2135200" w="1745558">
                  <a:moveTo>
                    <a:pt x="12849" y="0"/>
                  </a:moveTo>
                  <a:lnTo>
                    <a:pt x="1732708" y="0"/>
                  </a:lnTo>
                  <a:cubicBezTo>
                    <a:pt x="1736116" y="0"/>
                    <a:pt x="1739384" y="1354"/>
                    <a:pt x="1741794" y="3763"/>
                  </a:cubicBezTo>
                  <a:cubicBezTo>
                    <a:pt x="1744204" y="6173"/>
                    <a:pt x="1745558" y="9441"/>
                    <a:pt x="1745558" y="12849"/>
                  </a:cubicBezTo>
                  <a:lnTo>
                    <a:pt x="1745558" y="2122350"/>
                  </a:lnTo>
                  <a:cubicBezTo>
                    <a:pt x="1745558" y="2129447"/>
                    <a:pt x="1739805" y="2135200"/>
                    <a:pt x="1732708" y="2135200"/>
                  </a:cubicBezTo>
                  <a:lnTo>
                    <a:pt x="12849" y="2135200"/>
                  </a:lnTo>
                  <a:cubicBezTo>
                    <a:pt x="9441" y="2135200"/>
                    <a:pt x="6173" y="2133846"/>
                    <a:pt x="3763" y="2131436"/>
                  </a:cubicBezTo>
                  <a:cubicBezTo>
                    <a:pt x="1354" y="2129026"/>
                    <a:pt x="0" y="2125758"/>
                    <a:pt x="0" y="2122350"/>
                  </a:cubicBezTo>
                  <a:lnTo>
                    <a:pt x="0" y="12849"/>
                  </a:lnTo>
                  <a:cubicBezTo>
                    <a:pt x="0" y="5753"/>
                    <a:pt x="5753" y="0"/>
                    <a:pt x="12849" y="0"/>
                  </a:cubicBezTo>
                  <a:close/>
                </a:path>
              </a:pathLst>
            </a:custGeom>
            <a:solidFill>
              <a:srgbClr val="EBE1DB">
                <a:alpha val="9804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745558" cy="2182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1834896"/>
            <a:ext cx="489605" cy="8107086"/>
            <a:chOff x="0" y="0"/>
            <a:chExt cx="128949" cy="21352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8949" cy="2135200"/>
            </a:xfrm>
            <a:custGeom>
              <a:avLst/>
              <a:gdLst/>
              <a:ahLst/>
              <a:cxnLst/>
              <a:rect r="r" b="b" t="t" l="l"/>
              <a:pathLst>
                <a:path h="2135200" w="128949">
                  <a:moveTo>
                    <a:pt x="0" y="0"/>
                  </a:moveTo>
                  <a:lnTo>
                    <a:pt x="128949" y="0"/>
                  </a:lnTo>
                  <a:lnTo>
                    <a:pt x="128949" y="2135200"/>
                  </a:lnTo>
                  <a:lnTo>
                    <a:pt x="0" y="2135200"/>
                  </a:ln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28949" cy="2182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089827" y="329195"/>
            <a:ext cx="9948534" cy="4416697"/>
            <a:chOff x="0" y="0"/>
            <a:chExt cx="1541288" cy="68426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41288" cy="684262"/>
            </a:xfrm>
            <a:custGeom>
              <a:avLst/>
              <a:gdLst/>
              <a:ahLst/>
              <a:cxnLst/>
              <a:rect r="r" b="b" t="t" l="l"/>
              <a:pathLst>
                <a:path h="684262" w="1541288">
                  <a:moveTo>
                    <a:pt x="0" y="0"/>
                  </a:moveTo>
                  <a:lnTo>
                    <a:pt x="1541288" y="0"/>
                  </a:lnTo>
                  <a:lnTo>
                    <a:pt x="1541288" y="684262"/>
                  </a:lnTo>
                  <a:lnTo>
                    <a:pt x="0" y="684262"/>
                  </a:lnTo>
                  <a:close/>
                </a:path>
              </a:pathLst>
            </a:custGeom>
            <a:blipFill>
              <a:blip r:embed="rId2"/>
              <a:stretch>
                <a:fillRect l="0" t="-13479" r="0" b="-13479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089827" y="5122643"/>
            <a:ext cx="9948534" cy="5075502"/>
            <a:chOff x="0" y="0"/>
            <a:chExt cx="1541288" cy="78632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41288" cy="786328"/>
            </a:xfrm>
            <a:custGeom>
              <a:avLst/>
              <a:gdLst/>
              <a:ahLst/>
              <a:cxnLst/>
              <a:rect r="r" b="b" t="t" l="l"/>
              <a:pathLst>
                <a:path h="786328" w="1541288">
                  <a:moveTo>
                    <a:pt x="0" y="0"/>
                  </a:moveTo>
                  <a:lnTo>
                    <a:pt x="1541288" y="0"/>
                  </a:lnTo>
                  <a:lnTo>
                    <a:pt x="1541288" y="786328"/>
                  </a:lnTo>
                  <a:lnTo>
                    <a:pt x="0" y="786328"/>
                  </a:lnTo>
                  <a:close/>
                </a:path>
              </a:pathLst>
            </a:custGeom>
            <a:blipFill>
              <a:blip r:embed="rId3"/>
              <a:stretch>
                <a:fillRect l="0" t="-962" r="0" b="-962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489605" y="334293"/>
            <a:ext cx="5389245" cy="694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8"/>
              </a:lnSpc>
            </a:pPr>
            <a:r>
              <a:rPr lang="en-US" b="true" sz="4146" spc="389">
                <a:solidFill>
                  <a:srgbClr val="6ABB43"/>
                </a:solidFill>
                <a:latin typeface="Poppins Bold"/>
                <a:ea typeface="Poppins Bold"/>
                <a:cs typeface="Poppins Bold"/>
                <a:sym typeface="Poppins Bold"/>
              </a:rPr>
              <a:t>Database Setup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27028" y="2103308"/>
            <a:ext cx="6128916" cy="1013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Entity-Relationship Diagram captures logical structure of the database.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27864" y="3929282"/>
            <a:ext cx="5927244" cy="816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CREATE TABLE Disaster (...);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CREATE TABLE Response_Team (...);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CREATE TABLE Resource (...);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26192" y="3349670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Created schema using SQL: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26192" y="5114925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Created schema using SQL: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5859864"/>
            <a:ext cx="5927244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CREATE USER vivance IDENTIFIED BY password;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GRANT CONNECT, RESOURCE TO vivance;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27028" y="6800299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Created schema using SQL: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28700" y="7375914"/>
            <a:ext cx="5927244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ALTER SESSION SET CONTAINER = MON_27237_VIVANCE_DISASTERTS_DB;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27028" y="8316348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Confirmed container name using: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8700" y="8973820"/>
            <a:ext cx="5927244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SELECT SYS_CONTEXT('USERENV','CON_NAME') FROM DUAL;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B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28280" y="1834896"/>
            <a:ext cx="6627664" cy="8107086"/>
            <a:chOff x="0" y="0"/>
            <a:chExt cx="1745558" cy="2135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45558" cy="2135200"/>
            </a:xfrm>
            <a:custGeom>
              <a:avLst/>
              <a:gdLst/>
              <a:ahLst/>
              <a:cxnLst/>
              <a:rect r="r" b="b" t="t" l="l"/>
              <a:pathLst>
                <a:path h="2135200" w="1745558">
                  <a:moveTo>
                    <a:pt x="12849" y="0"/>
                  </a:moveTo>
                  <a:lnTo>
                    <a:pt x="1732708" y="0"/>
                  </a:lnTo>
                  <a:cubicBezTo>
                    <a:pt x="1736116" y="0"/>
                    <a:pt x="1739384" y="1354"/>
                    <a:pt x="1741794" y="3763"/>
                  </a:cubicBezTo>
                  <a:cubicBezTo>
                    <a:pt x="1744204" y="6173"/>
                    <a:pt x="1745558" y="9441"/>
                    <a:pt x="1745558" y="12849"/>
                  </a:cubicBezTo>
                  <a:lnTo>
                    <a:pt x="1745558" y="2122350"/>
                  </a:lnTo>
                  <a:cubicBezTo>
                    <a:pt x="1745558" y="2129447"/>
                    <a:pt x="1739805" y="2135200"/>
                    <a:pt x="1732708" y="2135200"/>
                  </a:cubicBezTo>
                  <a:lnTo>
                    <a:pt x="12849" y="2135200"/>
                  </a:lnTo>
                  <a:cubicBezTo>
                    <a:pt x="9441" y="2135200"/>
                    <a:pt x="6173" y="2133846"/>
                    <a:pt x="3763" y="2131436"/>
                  </a:cubicBezTo>
                  <a:cubicBezTo>
                    <a:pt x="1354" y="2129026"/>
                    <a:pt x="0" y="2125758"/>
                    <a:pt x="0" y="2122350"/>
                  </a:cubicBezTo>
                  <a:lnTo>
                    <a:pt x="0" y="12849"/>
                  </a:lnTo>
                  <a:cubicBezTo>
                    <a:pt x="0" y="5753"/>
                    <a:pt x="5753" y="0"/>
                    <a:pt x="12849" y="0"/>
                  </a:cubicBezTo>
                  <a:close/>
                </a:path>
              </a:pathLst>
            </a:custGeom>
            <a:solidFill>
              <a:srgbClr val="EBE1DB">
                <a:alpha val="9804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745558" cy="2182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1834896"/>
            <a:ext cx="489605" cy="8107086"/>
            <a:chOff x="0" y="0"/>
            <a:chExt cx="128949" cy="21352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8949" cy="2135200"/>
            </a:xfrm>
            <a:custGeom>
              <a:avLst/>
              <a:gdLst/>
              <a:ahLst/>
              <a:cxnLst/>
              <a:rect r="r" b="b" t="t" l="l"/>
              <a:pathLst>
                <a:path h="2135200" w="128949">
                  <a:moveTo>
                    <a:pt x="0" y="0"/>
                  </a:moveTo>
                  <a:lnTo>
                    <a:pt x="128949" y="0"/>
                  </a:lnTo>
                  <a:lnTo>
                    <a:pt x="128949" y="2135200"/>
                  </a:lnTo>
                  <a:lnTo>
                    <a:pt x="0" y="2135200"/>
                  </a:ln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28949" cy="2182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089827" y="410145"/>
            <a:ext cx="9948534" cy="4428666"/>
            <a:chOff x="0" y="0"/>
            <a:chExt cx="1541288" cy="6861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41288" cy="686116"/>
            </a:xfrm>
            <a:custGeom>
              <a:avLst/>
              <a:gdLst/>
              <a:ahLst/>
              <a:cxnLst/>
              <a:rect r="r" b="b" t="t" l="l"/>
              <a:pathLst>
                <a:path h="686116" w="1541288">
                  <a:moveTo>
                    <a:pt x="0" y="0"/>
                  </a:moveTo>
                  <a:lnTo>
                    <a:pt x="1541288" y="0"/>
                  </a:lnTo>
                  <a:lnTo>
                    <a:pt x="1541288" y="686116"/>
                  </a:lnTo>
                  <a:lnTo>
                    <a:pt x="0" y="686116"/>
                  </a:lnTo>
                  <a:close/>
                </a:path>
              </a:pathLst>
            </a:custGeom>
            <a:blipFill>
              <a:blip r:embed="rId2"/>
              <a:stretch>
                <a:fillRect l="-3928" t="0" r="-3928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089827" y="5143500"/>
            <a:ext cx="9948534" cy="4971784"/>
            <a:chOff x="0" y="0"/>
            <a:chExt cx="1541288" cy="77025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41288" cy="770259"/>
            </a:xfrm>
            <a:custGeom>
              <a:avLst/>
              <a:gdLst/>
              <a:ahLst/>
              <a:cxnLst/>
              <a:rect r="r" b="b" t="t" l="l"/>
              <a:pathLst>
                <a:path h="770259" w="1541288">
                  <a:moveTo>
                    <a:pt x="0" y="0"/>
                  </a:moveTo>
                  <a:lnTo>
                    <a:pt x="1541288" y="0"/>
                  </a:lnTo>
                  <a:lnTo>
                    <a:pt x="1541288" y="770259"/>
                  </a:lnTo>
                  <a:lnTo>
                    <a:pt x="0" y="770259"/>
                  </a:lnTo>
                  <a:close/>
                </a:path>
              </a:pathLst>
            </a:custGeom>
            <a:blipFill>
              <a:blip r:embed="rId3"/>
              <a:stretch>
                <a:fillRect l="0" t="-10357" r="0" b="-10357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489605" y="334293"/>
            <a:ext cx="5389245" cy="694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8"/>
              </a:lnSpc>
            </a:pPr>
            <a:r>
              <a:rPr lang="en-US" b="true" sz="4146" spc="389">
                <a:solidFill>
                  <a:srgbClr val="6ABB43"/>
                </a:solidFill>
                <a:latin typeface="Poppins Bold"/>
                <a:ea typeface="Poppins Bold"/>
                <a:cs typeface="Poppins Bold"/>
                <a:sym typeface="Poppins Bold"/>
              </a:rPr>
              <a:t>PL/SQL Logic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27028" y="2103308"/>
            <a:ext cx="6128916" cy="1013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Entity-Relationship Diagram captures logical structure of the database.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27864" y="3929282"/>
            <a:ext cx="5927244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 Procedure: Assign team to disaster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 Function: Count affected individuals by disaster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26192" y="3349670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Encapsulated complex logic via: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26192" y="5114925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Code examples: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5859864"/>
            <a:ext cx="5927244" cy="1092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PROCEDURE Assign_Team(p_disaster_id IN NUMBER, p_team_id IN NUMBER)  IS BEGIN ... END;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FUNCTION Count_Affected(p_disaster_id IN NUMBER) RETURN NUMBER IS ...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7375914"/>
            <a:ext cx="5927244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CREATE OR REPLACE PACKAGE pkg_disaster_ops AS ... END;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27028" y="8316348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Benefits: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28700" y="8973820"/>
            <a:ext cx="5927244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Reusability, clarity, modular testing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27028" y="6990799"/>
            <a:ext cx="6128916" cy="347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637"/>
              </a:lnSpc>
              <a:buFont typeface="Arial"/>
              <a:buChar char="•"/>
            </a:pPr>
            <a:r>
              <a:rPr lang="en-US" b="true" sz="2100" spc="19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Wrapped into PL/SQL Package: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2B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33932" y="-7979953"/>
            <a:ext cx="16683574" cy="13745924"/>
            <a:chOff x="0" y="0"/>
            <a:chExt cx="986504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6504" cy="812800"/>
            </a:xfrm>
            <a:custGeom>
              <a:avLst/>
              <a:gdLst/>
              <a:ahLst/>
              <a:cxnLst/>
              <a:rect r="r" b="b" t="t" l="l"/>
              <a:pathLst>
                <a:path h="812800" w="986504">
                  <a:moveTo>
                    <a:pt x="493252" y="0"/>
                  </a:moveTo>
                  <a:cubicBezTo>
                    <a:pt x="220836" y="0"/>
                    <a:pt x="0" y="181951"/>
                    <a:pt x="0" y="406400"/>
                  </a:cubicBezTo>
                  <a:cubicBezTo>
                    <a:pt x="0" y="630849"/>
                    <a:pt x="220836" y="812800"/>
                    <a:pt x="493252" y="812800"/>
                  </a:cubicBezTo>
                  <a:cubicBezTo>
                    <a:pt x="765668" y="812800"/>
                    <a:pt x="986504" y="630849"/>
                    <a:pt x="986504" y="406400"/>
                  </a:cubicBezTo>
                  <a:cubicBezTo>
                    <a:pt x="986504" y="181951"/>
                    <a:pt x="765668" y="0"/>
                    <a:pt x="49325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19075" cap="sq">
              <a:gradFill>
                <a:gsLst>
                  <a:gs pos="0">
                    <a:srgbClr val="2B2B2B">
                      <a:alpha val="100000"/>
                    </a:srgbClr>
                  </a:gs>
                  <a:gs pos="100000">
                    <a:srgbClr val="69BC46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92485" y="28575"/>
              <a:ext cx="801534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460519" y="1025679"/>
            <a:ext cx="1055766" cy="1055766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212867" y="4898168"/>
            <a:ext cx="1055766" cy="1055766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454603" y="5180276"/>
            <a:ext cx="1055766" cy="1055766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013826" y="3681681"/>
            <a:ext cx="1055766" cy="1055766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ABB43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4295168" y="2380092"/>
            <a:ext cx="3386468" cy="1379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8"/>
              </a:lnSpc>
            </a:pPr>
            <a:r>
              <a:rPr lang="en-US" b="true" sz="193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Improved command of Oracle DB &amp; PL/SQL (procedures, functions, triggers)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381621" y="6250280"/>
            <a:ext cx="2718257" cy="1036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8"/>
              </a:lnSpc>
            </a:pPr>
            <a:r>
              <a:rPr lang="en-US" b="true" sz="193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Integrated OEM Express for live database monitoring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289252" y="6534690"/>
            <a:ext cx="3386468" cy="693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8"/>
              </a:lnSpc>
            </a:pPr>
            <a:r>
              <a:rPr lang="en-US" b="true" sz="193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Used GitHub for structured collaboration and backup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848475" y="5036094"/>
            <a:ext cx="3386468" cy="1036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8"/>
              </a:lnSpc>
            </a:pPr>
            <a:r>
              <a:rPr lang="en-US" b="true" sz="193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Developed process-oriented thinking through BPMN modeling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370775" y="1111924"/>
            <a:ext cx="1235253" cy="759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59"/>
              </a:lnSpc>
            </a:pPr>
            <a:r>
              <a:rPr lang="en-US" b="true" sz="4185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123123" y="4984413"/>
            <a:ext cx="1235253" cy="759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59"/>
              </a:lnSpc>
            </a:pPr>
            <a:r>
              <a:rPr lang="en-US" b="true" sz="4185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364859" y="5266521"/>
            <a:ext cx="1235253" cy="759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59"/>
              </a:lnSpc>
            </a:pPr>
            <a:r>
              <a:rPr lang="en-US" b="true" sz="4185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03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924082" y="3767926"/>
            <a:ext cx="1235253" cy="759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59"/>
              </a:lnSpc>
            </a:pPr>
            <a:r>
              <a:rPr lang="en-US" b="true" sz="4185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68088" y="7220324"/>
            <a:ext cx="7873621" cy="694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8"/>
              </a:lnSpc>
            </a:pPr>
            <a:r>
              <a:rPr lang="en-US" b="true" sz="4146" spc="389">
                <a:solidFill>
                  <a:srgbClr val="6ABB43"/>
                </a:solidFill>
                <a:latin typeface="Poppins Bold"/>
                <a:ea typeface="Poppins Bold"/>
                <a:cs typeface="Poppins Bold"/>
                <a:sym typeface="Poppins Bold"/>
              </a:rPr>
              <a:t>Lessons Learned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709133" cy="10287000"/>
            <a:chOff x="0" y="0"/>
            <a:chExt cx="419716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9716" cy="1593725"/>
            </a:xfrm>
            <a:custGeom>
              <a:avLst/>
              <a:gdLst/>
              <a:ahLst/>
              <a:cxnLst/>
              <a:rect r="r" b="b" t="t" l="l"/>
              <a:pathLst>
                <a:path h="1593725" w="419716">
                  <a:moveTo>
                    <a:pt x="0" y="0"/>
                  </a:moveTo>
                  <a:lnTo>
                    <a:pt x="419716" y="0"/>
                  </a:lnTo>
                  <a:lnTo>
                    <a:pt x="419716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-76571" t="0" r="-76571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2322051">
            <a:off x="3519177" y="3511385"/>
            <a:ext cx="16913687" cy="2890703"/>
          </a:xfrm>
          <a:custGeom>
            <a:avLst/>
            <a:gdLst/>
            <a:ahLst/>
            <a:cxnLst/>
            <a:rect r="r" b="b" t="t" l="l"/>
            <a:pathLst>
              <a:path h="2890703" w="16913687">
                <a:moveTo>
                  <a:pt x="0" y="0"/>
                </a:moveTo>
                <a:lnTo>
                  <a:pt x="16913687" y="0"/>
                </a:lnTo>
                <a:lnTo>
                  <a:pt x="16913687" y="2890703"/>
                </a:lnTo>
                <a:lnTo>
                  <a:pt x="0" y="28907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957880" y="1446767"/>
            <a:ext cx="9885187" cy="1398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b="true" sz="4299" spc="404">
                <a:solidFill>
                  <a:srgbClr val="6ABB43"/>
                </a:solidFill>
                <a:latin typeface="Poppins Bold"/>
                <a:ea typeface="Poppins Bold"/>
                <a:cs typeface="Poppins Bold"/>
                <a:sym typeface="Poppins Bold"/>
              </a:rPr>
              <a:t>Benefits of the Disaster Tracking System &amp; Tools Used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315542" y="3837871"/>
            <a:ext cx="6587431" cy="3052258"/>
            <a:chOff x="0" y="0"/>
            <a:chExt cx="1734961" cy="8038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734961" cy="803887"/>
            </a:xfrm>
            <a:custGeom>
              <a:avLst/>
              <a:gdLst/>
              <a:ahLst/>
              <a:cxnLst/>
              <a:rect r="r" b="b" t="t" l="l"/>
              <a:pathLst>
                <a:path h="803887" w="1734961">
                  <a:moveTo>
                    <a:pt x="12928" y="0"/>
                  </a:moveTo>
                  <a:lnTo>
                    <a:pt x="1722033" y="0"/>
                  </a:lnTo>
                  <a:cubicBezTo>
                    <a:pt x="1729173" y="0"/>
                    <a:pt x="1734961" y="5788"/>
                    <a:pt x="1734961" y="12928"/>
                  </a:cubicBezTo>
                  <a:lnTo>
                    <a:pt x="1734961" y="790959"/>
                  </a:lnTo>
                  <a:cubicBezTo>
                    <a:pt x="1734961" y="798099"/>
                    <a:pt x="1729173" y="803887"/>
                    <a:pt x="1722033" y="803887"/>
                  </a:cubicBezTo>
                  <a:lnTo>
                    <a:pt x="12928" y="803887"/>
                  </a:lnTo>
                  <a:cubicBezTo>
                    <a:pt x="5788" y="803887"/>
                    <a:pt x="0" y="798099"/>
                    <a:pt x="0" y="790959"/>
                  </a:cubicBezTo>
                  <a:lnTo>
                    <a:pt x="0" y="12928"/>
                  </a:lnTo>
                  <a:cubicBezTo>
                    <a:pt x="0" y="5788"/>
                    <a:pt x="5788" y="0"/>
                    <a:pt x="12928" y="0"/>
                  </a:cubicBezTo>
                  <a:close/>
                </a:path>
              </a:pathLst>
            </a:custGeom>
            <a:solidFill>
              <a:srgbClr val="000000">
                <a:alpha val="9804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734961" cy="8515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3237420" y="3837871"/>
            <a:ext cx="6587431" cy="5707883"/>
            <a:chOff x="0" y="0"/>
            <a:chExt cx="1734961" cy="15033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734961" cy="1503311"/>
            </a:xfrm>
            <a:custGeom>
              <a:avLst/>
              <a:gdLst/>
              <a:ahLst/>
              <a:cxnLst/>
              <a:rect r="r" b="b" t="t" l="l"/>
              <a:pathLst>
                <a:path h="1503311" w="1734961">
                  <a:moveTo>
                    <a:pt x="12928" y="0"/>
                  </a:moveTo>
                  <a:lnTo>
                    <a:pt x="1722033" y="0"/>
                  </a:lnTo>
                  <a:cubicBezTo>
                    <a:pt x="1729173" y="0"/>
                    <a:pt x="1734961" y="5788"/>
                    <a:pt x="1734961" y="12928"/>
                  </a:cubicBezTo>
                  <a:lnTo>
                    <a:pt x="1734961" y="1490383"/>
                  </a:lnTo>
                  <a:cubicBezTo>
                    <a:pt x="1734961" y="1497523"/>
                    <a:pt x="1729173" y="1503311"/>
                    <a:pt x="1722033" y="1503311"/>
                  </a:cubicBezTo>
                  <a:lnTo>
                    <a:pt x="12928" y="1503311"/>
                  </a:lnTo>
                  <a:cubicBezTo>
                    <a:pt x="5788" y="1503311"/>
                    <a:pt x="0" y="1497523"/>
                    <a:pt x="0" y="1490383"/>
                  </a:cubicBezTo>
                  <a:lnTo>
                    <a:pt x="0" y="12928"/>
                  </a:lnTo>
                  <a:cubicBezTo>
                    <a:pt x="0" y="5788"/>
                    <a:pt x="5788" y="0"/>
                    <a:pt x="12928" y="0"/>
                  </a:cubicBezTo>
                  <a:close/>
                </a:path>
              </a:pathLst>
            </a:custGeom>
            <a:solidFill>
              <a:srgbClr val="000000">
                <a:alpha val="9804"/>
              </a:srgbClr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1734961" cy="15509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3461013" y="4141165"/>
            <a:ext cx="5718619" cy="350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8"/>
              </a:lnSpc>
            </a:pPr>
            <a:r>
              <a:rPr lang="en-US" b="true" sz="1934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B</a:t>
            </a:r>
            <a:r>
              <a:rPr lang="en-US" b="true" sz="1934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enefits of the Disaster Tracking System: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643903" y="4141165"/>
            <a:ext cx="5718619" cy="350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8"/>
              </a:lnSpc>
            </a:pPr>
            <a:r>
              <a:rPr lang="en-US" b="true" sz="1934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Tools Used: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589917" y="4636498"/>
            <a:ext cx="5882437" cy="3026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Centra</a:t>
            </a: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lized Control: Streamlines disaster reporting and response coordination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Automated Workflows: Validates reports, assigns teams, and tracks SLAs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Audit Compliance: Logs all actions with timestamps and user details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Improved Response Times: Timer-based SLAs ensure rapid team deployment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Data Integrity: 3NF-normalized database with referential constraints</a:t>
            </a:r>
          </a:p>
          <a:p>
            <a:pPr algn="l">
              <a:lnSpc>
                <a:spcPts val="2240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10643903" y="4636498"/>
            <a:ext cx="5718619" cy="192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Oracle SQL Developer: Database design &amp; PL/SQL development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BPMN.io: Process modeling for disaster workflows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OEM Express: Real-time database monitoring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GitHub: Version control &amp;</a:t>
            </a: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collaboration</a:t>
            </a:r>
          </a:p>
          <a:p>
            <a:pPr algn="l" marL="345441" indent="-172721" lvl="1">
              <a:lnSpc>
                <a:spcPts val="224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SQL*Plus: SYS-level database configuration</a:t>
            </a:r>
          </a:p>
          <a:p>
            <a:pPr algn="l">
              <a:lnSpc>
                <a:spcPts val="2240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2B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917513" y="-4343522"/>
            <a:ext cx="10223869" cy="8423647"/>
            <a:chOff x="0" y="0"/>
            <a:chExt cx="986504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6504" cy="812800"/>
            </a:xfrm>
            <a:custGeom>
              <a:avLst/>
              <a:gdLst/>
              <a:ahLst/>
              <a:cxnLst/>
              <a:rect r="r" b="b" t="t" l="l"/>
              <a:pathLst>
                <a:path h="812800" w="986504">
                  <a:moveTo>
                    <a:pt x="493252" y="0"/>
                  </a:moveTo>
                  <a:cubicBezTo>
                    <a:pt x="220836" y="0"/>
                    <a:pt x="0" y="181951"/>
                    <a:pt x="0" y="406400"/>
                  </a:cubicBezTo>
                  <a:cubicBezTo>
                    <a:pt x="0" y="630849"/>
                    <a:pt x="220836" y="812800"/>
                    <a:pt x="493252" y="812800"/>
                  </a:cubicBezTo>
                  <a:cubicBezTo>
                    <a:pt x="765668" y="812800"/>
                    <a:pt x="986504" y="630849"/>
                    <a:pt x="986504" y="406400"/>
                  </a:cubicBezTo>
                  <a:cubicBezTo>
                    <a:pt x="986504" y="181951"/>
                    <a:pt x="765668" y="0"/>
                    <a:pt x="49325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19075" cap="sq">
              <a:gradFill>
                <a:gsLst>
                  <a:gs pos="0">
                    <a:srgbClr val="2B2B2B">
                      <a:alpha val="100000"/>
                    </a:srgbClr>
                  </a:gs>
                  <a:gs pos="100000">
                    <a:srgbClr val="69BC46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92485" y="28575"/>
              <a:ext cx="801534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63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352505" y="3916984"/>
            <a:ext cx="11701808" cy="1028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41"/>
              </a:lnSpc>
            </a:pPr>
            <a:r>
              <a:rPr lang="en-US" b="true" sz="6163" spc="579">
                <a:solidFill>
                  <a:srgbClr val="6ABB43"/>
                </a:solidFill>
                <a:latin typeface="Poppins Bold"/>
                <a:ea typeface="Poppins Bold"/>
                <a:cs typeface="Poppins Bold"/>
                <a:sym typeface="Poppins Bold"/>
              </a:rPr>
              <a:t>Thank You / Q&amp;A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52505" y="4973398"/>
            <a:ext cx="14339253" cy="14000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00556" indent="-250278" lvl="1">
              <a:lnSpc>
                <a:spcPts val="3758"/>
              </a:lnSpc>
              <a:buFont typeface="Arial"/>
              <a:buChar char="•"/>
            </a:pPr>
            <a:r>
              <a:rPr lang="en-US" sz="2318">
                <a:solidFill>
                  <a:srgbClr val="CAD6DE"/>
                </a:solidFill>
                <a:latin typeface="Montserrat"/>
                <a:ea typeface="Montserrat"/>
                <a:cs typeface="Montserrat"/>
                <a:sym typeface="Montserrat"/>
              </a:rPr>
              <a:t>Contact: shyaka.vivance@auca.ac.rw</a:t>
            </a:r>
          </a:p>
          <a:p>
            <a:pPr algn="l" marL="500556" indent="-250278" lvl="1">
              <a:lnSpc>
                <a:spcPts val="3758"/>
              </a:lnSpc>
              <a:buFont typeface="Arial"/>
              <a:buChar char="•"/>
            </a:pPr>
            <a:r>
              <a:rPr lang="en-US" sz="2318">
                <a:solidFill>
                  <a:srgbClr val="CAD6DE"/>
                </a:solidFill>
                <a:latin typeface="Montserrat"/>
                <a:ea typeface="Montserrat"/>
                <a:cs typeface="Montserrat"/>
                <a:sym typeface="Montserrat"/>
              </a:rPr>
              <a:t> Feel free to ask questions on logic, design, or deployment</a:t>
            </a:r>
          </a:p>
          <a:p>
            <a:pPr algn="l" marL="500556" indent="-250278" lvl="1">
              <a:lnSpc>
                <a:spcPts val="3758"/>
              </a:lnSpc>
              <a:buFont typeface="Arial"/>
              <a:buChar char="•"/>
            </a:pPr>
            <a:r>
              <a:rPr lang="en-US" sz="2318">
                <a:solidFill>
                  <a:srgbClr val="CAD6DE"/>
                </a:solidFill>
                <a:latin typeface="Montserrat"/>
                <a:ea typeface="Montserrat"/>
                <a:cs typeface="Montserrat"/>
                <a:sym typeface="Montserrat"/>
              </a:rPr>
              <a:t> Ready for demo or walkthrough of SQL/GitHub/OEM/BPMN</a:t>
            </a:r>
            <a:r>
              <a:rPr lang="en-US" sz="2318">
                <a:solidFill>
                  <a:srgbClr val="CAD6DE"/>
                </a:solidFill>
                <a:latin typeface="Montserrat"/>
                <a:ea typeface="Montserrat"/>
                <a:cs typeface="Montserrat"/>
                <a:sym typeface="Montserrat"/>
              </a:rPr>
              <a:t> components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DAGoT5Ud-_g</dc:identifier>
  <dcterms:modified xsi:type="dcterms:W3CDTF">2011-08-01T06:04:30Z</dcterms:modified>
  <cp:revision>1</cp:revision>
  <dc:title>Disaster Tracking System</dc:title>
</cp:coreProperties>
</file>