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Lst>
  <p:sldSz cx="18288000" cy="10287000"/>
  <p:notesSz cx="6858000" cy="9144000"/>
  <p:embeddedFontLst>
    <p:embeddedFont>
      <p:font typeface="Helvetica World Bold" charset="1" panose="020B0800040000020004"/>
      <p:regular r:id="rId9"/>
    </p:embeddedFont>
    <p:embeddedFont>
      <p:font typeface="Helvetica World" charset="1" panose="020B0500040000020004"/>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2" y="5162772"/>
            <a:ext cx="18288000" cy="5132469"/>
            <a:chOff x="0" y="0"/>
            <a:chExt cx="24384000" cy="6843292"/>
          </a:xfrm>
        </p:grpSpPr>
        <p:sp>
          <p:nvSpPr>
            <p:cNvPr name="Freeform 3" id="3"/>
            <p:cNvSpPr/>
            <p:nvPr/>
          </p:nvSpPr>
          <p:spPr>
            <a:xfrm flipH="false" flipV="false" rot="0">
              <a:off x="0" y="0"/>
              <a:ext cx="24384006" cy="6843313"/>
            </a:xfrm>
            <a:custGeom>
              <a:avLst/>
              <a:gdLst/>
              <a:ahLst/>
              <a:cxnLst/>
              <a:rect r="r" b="b" t="t" l="l"/>
              <a:pathLst>
                <a:path h="6843313" w="24384006">
                  <a:moveTo>
                    <a:pt x="0" y="0"/>
                  </a:moveTo>
                  <a:lnTo>
                    <a:pt x="24384006" y="0"/>
                  </a:lnTo>
                  <a:lnTo>
                    <a:pt x="24384006" y="6843313"/>
                  </a:lnTo>
                  <a:lnTo>
                    <a:pt x="0" y="6843313"/>
                  </a:lnTo>
                  <a:lnTo>
                    <a:pt x="0" y="0"/>
                  </a:lnTo>
                  <a:close/>
                </a:path>
              </a:pathLst>
            </a:custGeom>
            <a:solidFill>
              <a:srgbClr val="5755FE"/>
            </a:solidFill>
          </p:spPr>
        </p:sp>
      </p:grpSp>
      <p:grpSp>
        <p:nvGrpSpPr>
          <p:cNvPr name="Group 4" id="4"/>
          <p:cNvGrpSpPr/>
          <p:nvPr/>
        </p:nvGrpSpPr>
        <p:grpSpPr>
          <a:xfrm rot="-1751635">
            <a:off x="12477053" y="-3075599"/>
            <a:ext cx="4836382" cy="7536262"/>
            <a:chOff x="0" y="0"/>
            <a:chExt cx="4410547" cy="6872708"/>
          </a:xfrm>
        </p:grpSpPr>
        <p:sp>
          <p:nvSpPr>
            <p:cNvPr name="Freeform 5" id="5"/>
            <p:cNvSpPr/>
            <p:nvPr/>
          </p:nvSpPr>
          <p:spPr>
            <a:xfrm flipH="false" flipV="false" rot="0">
              <a:off x="0" y="0"/>
              <a:ext cx="4410502" cy="6872732"/>
            </a:xfrm>
            <a:custGeom>
              <a:avLst/>
              <a:gdLst/>
              <a:ahLst/>
              <a:cxnLst/>
              <a:rect r="r" b="b" t="t" l="l"/>
              <a:pathLst>
                <a:path h="6872732" w="4410502">
                  <a:moveTo>
                    <a:pt x="4410502" y="6872732"/>
                  </a:moveTo>
                  <a:cubicBezTo>
                    <a:pt x="4195392" y="6872732"/>
                    <a:pt x="4195392" y="6872732"/>
                    <a:pt x="4195392" y="6872732"/>
                  </a:cubicBezTo>
                  <a:cubicBezTo>
                    <a:pt x="4195392" y="4746879"/>
                    <a:pt x="2366617" y="3014345"/>
                    <a:pt x="114349" y="3014345"/>
                  </a:cubicBezTo>
                  <a:cubicBezTo>
                    <a:pt x="6727" y="3014345"/>
                    <a:pt x="6727" y="3014345"/>
                    <a:pt x="6727" y="3014345"/>
                  </a:cubicBezTo>
                  <a:cubicBezTo>
                    <a:pt x="0" y="0"/>
                    <a:pt x="0" y="0"/>
                    <a:pt x="0" y="0"/>
                  </a:cubicBezTo>
                  <a:cubicBezTo>
                    <a:pt x="215110" y="0"/>
                    <a:pt x="215110" y="0"/>
                    <a:pt x="215110" y="0"/>
                  </a:cubicBezTo>
                  <a:cubicBezTo>
                    <a:pt x="221837" y="2817622"/>
                    <a:pt x="221837" y="2817622"/>
                    <a:pt x="221837" y="2817622"/>
                  </a:cubicBezTo>
                  <a:cubicBezTo>
                    <a:pt x="2541369" y="2868422"/>
                    <a:pt x="4410502" y="4670679"/>
                    <a:pt x="4410502" y="6872732"/>
                  </a:cubicBezTo>
                  <a:close/>
                </a:path>
              </a:pathLst>
            </a:custGeom>
            <a:solidFill>
              <a:srgbClr val="5755FE"/>
            </a:solidFill>
          </p:spPr>
        </p:sp>
      </p:grpSp>
      <p:grpSp>
        <p:nvGrpSpPr>
          <p:cNvPr name="Group 6" id="6"/>
          <p:cNvGrpSpPr/>
          <p:nvPr/>
        </p:nvGrpSpPr>
        <p:grpSpPr>
          <a:xfrm rot="-2889059">
            <a:off x="13715432" y="4463627"/>
            <a:ext cx="4580404" cy="7504006"/>
            <a:chOff x="0" y="0"/>
            <a:chExt cx="4177108" cy="6843292"/>
          </a:xfrm>
        </p:grpSpPr>
        <p:sp>
          <p:nvSpPr>
            <p:cNvPr name="Freeform 7" id="7"/>
            <p:cNvSpPr/>
            <p:nvPr/>
          </p:nvSpPr>
          <p:spPr>
            <a:xfrm flipH="false" flipV="false" rot="0">
              <a:off x="0" y="0"/>
              <a:ext cx="4177157" cy="6843268"/>
            </a:xfrm>
            <a:custGeom>
              <a:avLst/>
              <a:gdLst/>
              <a:ahLst/>
              <a:cxnLst/>
              <a:rect r="r" b="b" t="t" l="l"/>
              <a:pathLst>
                <a:path h="6843268" w="4177157">
                  <a:moveTo>
                    <a:pt x="3973957" y="6843268"/>
                  </a:moveTo>
                  <a:cubicBezTo>
                    <a:pt x="3961257" y="4062730"/>
                    <a:pt x="3961257" y="4062730"/>
                    <a:pt x="3961257" y="4062730"/>
                  </a:cubicBezTo>
                  <a:cubicBezTo>
                    <a:pt x="1771142" y="4005707"/>
                    <a:pt x="0" y="2209165"/>
                    <a:pt x="0" y="0"/>
                  </a:cubicBezTo>
                  <a:cubicBezTo>
                    <a:pt x="203200" y="0"/>
                    <a:pt x="203200" y="0"/>
                    <a:pt x="203200" y="0"/>
                  </a:cubicBezTo>
                  <a:cubicBezTo>
                    <a:pt x="203200" y="2126615"/>
                    <a:pt x="1936242" y="3859657"/>
                    <a:pt x="4062857" y="3859657"/>
                  </a:cubicBezTo>
                  <a:cubicBezTo>
                    <a:pt x="4164457" y="3859657"/>
                    <a:pt x="4164457" y="3859657"/>
                    <a:pt x="4164457" y="3859657"/>
                  </a:cubicBezTo>
                  <a:cubicBezTo>
                    <a:pt x="4177157" y="6836918"/>
                    <a:pt x="4177157" y="6836918"/>
                    <a:pt x="4177157" y="6836918"/>
                  </a:cubicBezTo>
                  <a:lnTo>
                    <a:pt x="3973957" y="6843268"/>
                  </a:lnTo>
                  <a:close/>
                </a:path>
              </a:pathLst>
            </a:custGeom>
            <a:solidFill>
              <a:srgbClr val="FFFFFF"/>
            </a:solidFill>
          </p:spPr>
        </p:sp>
      </p:grpSp>
      <p:grpSp>
        <p:nvGrpSpPr>
          <p:cNvPr name="Group 8" id="8"/>
          <p:cNvGrpSpPr/>
          <p:nvPr/>
        </p:nvGrpSpPr>
        <p:grpSpPr>
          <a:xfrm rot="0">
            <a:off x="11267219" y="890194"/>
            <a:ext cx="7019788" cy="7015778"/>
            <a:chOff x="0" y="0"/>
            <a:chExt cx="9359718" cy="9354370"/>
          </a:xfrm>
        </p:grpSpPr>
        <p:sp>
          <p:nvSpPr>
            <p:cNvPr name="Freeform 9" id="9"/>
            <p:cNvSpPr/>
            <p:nvPr/>
          </p:nvSpPr>
          <p:spPr>
            <a:xfrm flipH="false" flipV="false" rot="0">
              <a:off x="0" y="0"/>
              <a:ext cx="9359773" cy="9354312"/>
            </a:xfrm>
            <a:custGeom>
              <a:avLst/>
              <a:gdLst/>
              <a:ahLst/>
              <a:cxnLst/>
              <a:rect r="r" b="b" t="t" l="l"/>
              <a:pathLst>
                <a:path h="9354312" w="9359773">
                  <a:moveTo>
                    <a:pt x="0" y="4677156"/>
                  </a:moveTo>
                  <a:cubicBezTo>
                    <a:pt x="0" y="2094103"/>
                    <a:pt x="2095246" y="0"/>
                    <a:pt x="4679823" y="0"/>
                  </a:cubicBezTo>
                  <a:cubicBezTo>
                    <a:pt x="7264400" y="0"/>
                    <a:pt x="9359773" y="2094103"/>
                    <a:pt x="9359773" y="4677156"/>
                  </a:cubicBezTo>
                  <a:cubicBezTo>
                    <a:pt x="9359773" y="7260209"/>
                    <a:pt x="7264527" y="9354312"/>
                    <a:pt x="4679823" y="9354312"/>
                  </a:cubicBezTo>
                  <a:cubicBezTo>
                    <a:pt x="2095119" y="9354312"/>
                    <a:pt x="0" y="7260336"/>
                    <a:pt x="0" y="4677156"/>
                  </a:cubicBezTo>
                  <a:close/>
                </a:path>
              </a:pathLst>
            </a:custGeom>
            <a:solidFill>
              <a:srgbClr val="FFFFFF"/>
            </a:solidFill>
          </p:spPr>
        </p:sp>
      </p:grpSp>
      <p:grpSp>
        <p:nvGrpSpPr>
          <p:cNvPr name="Group 10" id="10"/>
          <p:cNvGrpSpPr/>
          <p:nvPr/>
        </p:nvGrpSpPr>
        <p:grpSpPr>
          <a:xfrm rot="0">
            <a:off x="11508518" y="1028700"/>
            <a:ext cx="6537191" cy="6539891"/>
            <a:chOff x="0" y="0"/>
            <a:chExt cx="6476924" cy="6479600"/>
          </a:xfrm>
        </p:grpSpPr>
        <p:sp>
          <p:nvSpPr>
            <p:cNvPr name="Freeform 11" id="11"/>
            <p:cNvSpPr/>
            <p:nvPr/>
          </p:nvSpPr>
          <p:spPr>
            <a:xfrm flipH="false" flipV="false" rot="0">
              <a:off x="0" y="0"/>
              <a:ext cx="6477000" cy="6479540"/>
            </a:xfrm>
            <a:custGeom>
              <a:avLst/>
              <a:gdLst/>
              <a:ahLst/>
              <a:cxnLst/>
              <a:rect r="r" b="b" t="t" l="l"/>
              <a:pathLst>
                <a:path h="6479540" w="6477000">
                  <a:moveTo>
                    <a:pt x="0" y="3239770"/>
                  </a:moveTo>
                  <a:cubicBezTo>
                    <a:pt x="0" y="1450467"/>
                    <a:pt x="1449959" y="0"/>
                    <a:pt x="3238500" y="0"/>
                  </a:cubicBezTo>
                  <a:cubicBezTo>
                    <a:pt x="5027041" y="0"/>
                    <a:pt x="6477000" y="1450467"/>
                    <a:pt x="6477000" y="3239770"/>
                  </a:cubicBezTo>
                  <a:cubicBezTo>
                    <a:pt x="6477000" y="5029073"/>
                    <a:pt x="5027041" y="6479540"/>
                    <a:pt x="3238500" y="6479540"/>
                  </a:cubicBezTo>
                  <a:cubicBezTo>
                    <a:pt x="1449959" y="6479540"/>
                    <a:pt x="0" y="5029073"/>
                    <a:pt x="0" y="3239770"/>
                  </a:cubicBezTo>
                  <a:close/>
                </a:path>
              </a:pathLst>
            </a:custGeom>
            <a:blipFill>
              <a:blip r:embed="rId2"/>
              <a:stretch>
                <a:fillRect l="-25029" t="0" r="-25029" b="0"/>
              </a:stretch>
            </a:blipFill>
          </p:spPr>
        </p:sp>
      </p:grpSp>
      <p:sp>
        <p:nvSpPr>
          <p:cNvPr name="Freeform 12" id="12"/>
          <p:cNvSpPr/>
          <p:nvPr/>
        </p:nvSpPr>
        <p:spPr>
          <a:xfrm flipH="false" flipV="false" rot="0">
            <a:off x="135060" y="0"/>
            <a:ext cx="12517153" cy="2942067"/>
          </a:xfrm>
          <a:custGeom>
            <a:avLst/>
            <a:gdLst/>
            <a:ahLst/>
            <a:cxnLst/>
            <a:rect r="r" b="b" t="t" l="l"/>
            <a:pathLst>
              <a:path h="2942067" w="12517153">
                <a:moveTo>
                  <a:pt x="0" y="0"/>
                </a:moveTo>
                <a:lnTo>
                  <a:pt x="12517153" y="0"/>
                </a:lnTo>
                <a:lnTo>
                  <a:pt x="12517153" y="2942067"/>
                </a:lnTo>
                <a:lnTo>
                  <a:pt x="0" y="2942067"/>
                </a:lnTo>
                <a:lnTo>
                  <a:pt x="0" y="0"/>
                </a:lnTo>
                <a:close/>
              </a:path>
            </a:pathLst>
          </a:custGeom>
          <a:blipFill>
            <a:blip r:embed="rId3"/>
            <a:stretch>
              <a:fillRect l="-2130" t="0" r="-5693" b="-7403"/>
            </a:stretch>
          </a:blipFill>
        </p:spPr>
      </p:sp>
      <p:sp>
        <p:nvSpPr>
          <p:cNvPr name="TextBox 13" id="13"/>
          <p:cNvSpPr txBox="true"/>
          <p:nvPr/>
        </p:nvSpPr>
        <p:spPr>
          <a:xfrm rot="0">
            <a:off x="69940" y="4112791"/>
            <a:ext cx="8726444" cy="2109487"/>
          </a:xfrm>
          <a:prstGeom prst="rect">
            <a:avLst/>
          </a:prstGeom>
        </p:spPr>
        <p:txBody>
          <a:bodyPr anchor="t" rtlCol="false" tIns="0" lIns="0" bIns="0" rIns="0">
            <a:spAutoFit/>
          </a:bodyPr>
          <a:lstStyle/>
          <a:p>
            <a:pPr algn="l">
              <a:lnSpc>
                <a:spcPts val="6684"/>
              </a:lnSpc>
            </a:pPr>
            <a:r>
              <a:rPr lang="en-US" sz="5570" b="true">
                <a:solidFill>
                  <a:srgbClr val="000000"/>
                </a:solidFill>
                <a:latin typeface="Helvetica World Bold"/>
                <a:ea typeface="Helvetica World Bold"/>
                <a:cs typeface="Helvetica World Bold"/>
                <a:sym typeface="Helvetica World Bold"/>
              </a:rPr>
              <a:t>CAPSTONE PROJECT</a:t>
            </a:r>
          </a:p>
          <a:p>
            <a:pPr algn="l">
              <a:lnSpc>
                <a:spcPts val="9400"/>
              </a:lnSpc>
            </a:pPr>
          </a:p>
        </p:txBody>
      </p:sp>
      <p:sp>
        <p:nvSpPr>
          <p:cNvPr name="TextBox 14" id="14"/>
          <p:cNvSpPr txBox="true"/>
          <p:nvPr/>
        </p:nvSpPr>
        <p:spPr>
          <a:xfrm rot="0">
            <a:off x="135060" y="8282940"/>
            <a:ext cx="4833933" cy="1893570"/>
          </a:xfrm>
          <a:prstGeom prst="rect">
            <a:avLst/>
          </a:prstGeom>
        </p:spPr>
        <p:txBody>
          <a:bodyPr anchor="t" rtlCol="false" tIns="0" lIns="0" bIns="0" rIns="0">
            <a:spAutoFit/>
          </a:bodyPr>
          <a:lstStyle/>
          <a:p>
            <a:pPr algn="l">
              <a:lnSpc>
                <a:spcPts val="3780"/>
              </a:lnSpc>
            </a:pPr>
            <a:r>
              <a:rPr lang="en-US" sz="2700">
                <a:solidFill>
                  <a:srgbClr val="FFFFFF"/>
                </a:solidFill>
                <a:latin typeface="Helvetica World"/>
                <a:ea typeface="Helvetica World"/>
                <a:cs typeface="Helvetica World"/>
                <a:sym typeface="Helvetica World"/>
              </a:rPr>
              <a:t>Presented by Shyaka Vivance</a:t>
            </a:r>
          </a:p>
          <a:p>
            <a:pPr algn="l">
              <a:lnSpc>
                <a:spcPts val="3780"/>
              </a:lnSpc>
            </a:pPr>
            <a:r>
              <a:rPr lang="en-US" sz="2700">
                <a:solidFill>
                  <a:srgbClr val="FFFFFF"/>
                </a:solidFill>
                <a:latin typeface="Helvetica World"/>
                <a:ea typeface="Helvetica World"/>
                <a:cs typeface="Helvetica World"/>
                <a:sym typeface="Helvetica World"/>
              </a:rPr>
              <a:t>ID: 27</a:t>
            </a:r>
            <a:r>
              <a:rPr lang="en-US" sz="2700">
                <a:solidFill>
                  <a:srgbClr val="FFFFFF"/>
                </a:solidFill>
                <a:latin typeface="Helvetica World"/>
                <a:ea typeface="Helvetica World"/>
                <a:cs typeface="Helvetica World"/>
                <a:sym typeface="Helvetica World"/>
              </a:rPr>
              <a:t>237</a:t>
            </a:r>
          </a:p>
          <a:p>
            <a:pPr algn="l">
              <a:lnSpc>
                <a:spcPts val="3780"/>
              </a:lnSpc>
            </a:pPr>
            <a:r>
              <a:rPr lang="en-US" sz="2700">
                <a:solidFill>
                  <a:srgbClr val="FFFFFF"/>
                </a:solidFill>
                <a:latin typeface="Helvetica World"/>
                <a:ea typeface="Helvetica World"/>
                <a:cs typeface="Helvetica World"/>
                <a:sym typeface="Helvetica World"/>
              </a:rPr>
              <a:t>Group : A (Monday)</a:t>
            </a:r>
          </a:p>
          <a:p>
            <a:pPr algn="l">
              <a:lnSpc>
                <a:spcPts val="3780"/>
              </a:lnSpc>
            </a:pPr>
          </a:p>
        </p:txBody>
      </p:sp>
      <p:sp>
        <p:nvSpPr>
          <p:cNvPr name="TextBox 15" id="15"/>
          <p:cNvSpPr txBox="true"/>
          <p:nvPr/>
        </p:nvSpPr>
        <p:spPr>
          <a:xfrm rot="0">
            <a:off x="315141" y="5632368"/>
            <a:ext cx="8236043" cy="2996565"/>
          </a:xfrm>
          <a:prstGeom prst="rect">
            <a:avLst/>
          </a:prstGeom>
        </p:spPr>
        <p:txBody>
          <a:bodyPr anchor="t" rtlCol="false" tIns="0" lIns="0" bIns="0" rIns="0">
            <a:spAutoFit/>
          </a:bodyPr>
          <a:lstStyle/>
          <a:p>
            <a:pPr algn="l">
              <a:lnSpc>
                <a:spcPts val="7440"/>
              </a:lnSpc>
            </a:pPr>
            <a:r>
              <a:rPr lang="en-US" sz="6200" b="true">
                <a:solidFill>
                  <a:srgbClr val="FFFFFF"/>
                </a:solidFill>
                <a:latin typeface="Helvetica World Bold"/>
                <a:ea typeface="Helvetica World Bold"/>
                <a:cs typeface="Helvetica World Bold"/>
                <a:sym typeface="Helvetica World Bold"/>
              </a:rPr>
              <a:t> DISASTER TRACKING SYSTEM</a:t>
            </a:r>
          </a:p>
          <a:p>
            <a:pPr algn="l">
              <a:lnSpc>
                <a:spcPts val="744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75066"/>
            <a:ext cx="8514087" cy="1246496"/>
            <a:chOff x="0" y="0"/>
            <a:chExt cx="11352116" cy="1661994"/>
          </a:xfrm>
        </p:grpSpPr>
        <p:sp>
          <p:nvSpPr>
            <p:cNvPr name="Freeform 3" id="3"/>
            <p:cNvSpPr/>
            <p:nvPr/>
          </p:nvSpPr>
          <p:spPr>
            <a:xfrm flipH="false" flipV="false" rot="0">
              <a:off x="0" y="0"/>
              <a:ext cx="11352149" cy="1662049"/>
            </a:xfrm>
            <a:custGeom>
              <a:avLst/>
              <a:gdLst/>
              <a:ahLst/>
              <a:cxnLst/>
              <a:rect r="r" b="b" t="t" l="l"/>
              <a:pathLst>
                <a:path h="1662049" w="11352149">
                  <a:moveTo>
                    <a:pt x="0" y="0"/>
                  </a:moveTo>
                  <a:lnTo>
                    <a:pt x="11352149" y="0"/>
                  </a:lnTo>
                  <a:lnTo>
                    <a:pt x="11352149" y="1662049"/>
                  </a:lnTo>
                  <a:lnTo>
                    <a:pt x="0" y="1662049"/>
                  </a:lnTo>
                  <a:close/>
                </a:path>
              </a:pathLst>
            </a:custGeom>
            <a:solidFill>
              <a:srgbClr val="5755FE"/>
            </a:solidFill>
          </p:spPr>
        </p:sp>
      </p:grpSp>
      <p:grpSp>
        <p:nvGrpSpPr>
          <p:cNvPr name="Group 4" id="4"/>
          <p:cNvGrpSpPr/>
          <p:nvPr/>
        </p:nvGrpSpPr>
        <p:grpSpPr>
          <a:xfrm rot="0">
            <a:off x="7897504" y="375066"/>
            <a:ext cx="1246496" cy="1246496"/>
            <a:chOff x="0" y="0"/>
            <a:chExt cx="1661994" cy="1661994"/>
          </a:xfrm>
        </p:grpSpPr>
        <p:sp>
          <p:nvSpPr>
            <p:cNvPr name="Freeform 5" id="5"/>
            <p:cNvSpPr/>
            <p:nvPr/>
          </p:nvSpPr>
          <p:spPr>
            <a:xfrm flipH="false" flipV="false" rot="0">
              <a:off x="0" y="0"/>
              <a:ext cx="1661922" cy="1661922"/>
            </a:xfrm>
            <a:custGeom>
              <a:avLst/>
              <a:gdLst/>
              <a:ahLst/>
              <a:cxnLst/>
              <a:rect r="r" b="b" t="t" l="l"/>
              <a:pathLst>
                <a:path h="1661922" w="1661922">
                  <a:moveTo>
                    <a:pt x="0" y="830961"/>
                  </a:moveTo>
                  <a:cubicBezTo>
                    <a:pt x="0" y="1289939"/>
                    <a:pt x="372110" y="1661922"/>
                    <a:pt x="830961" y="1661922"/>
                  </a:cubicBezTo>
                  <a:cubicBezTo>
                    <a:pt x="1289812" y="1661922"/>
                    <a:pt x="1661922" y="1289812"/>
                    <a:pt x="1661922" y="830961"/>
                  </a:cubicBezTo>
                  <a:cubicBezTo>
                    <a:pt x="1661922" y="372110"/>
                    <a:pt x="1289939" y="0"/>
                    <a:pt x="830961" y="0"/>
                  </a:cubicBezTo>
                  <a:cubicBezTo>
                    <a:pt x="371983" y="0"/>
                    <a:pt x="0" y="372110"/>
                    <a:pt x="0" y="830961"/>
                  </a:cubicBezTo>
                  <a:close/>
                </a:path>
              </a:pathLst>
            </a:custGeom>
            <a:solidFill>
              <a:srgbClr val="5755FE"/>
            </a:solidFill>
          </p:spPr>
        </p:sp>
      </p:grpSp>
      <p:grpSp>
        <p:nvGrpSpPr>
          <p:cNvPr name="Group 6" id="6"/>
          <p:cNvGrpSpPr/>
          <p:nvPr/>
        </p:nvGrpSpPr>
        <p:grpSpPr>
          <a:xfrm rot="0">
            <a:off x="7979826" y="457388"/>
            <a:ext cx="1081854" cy="1081851"/>
            <a:chOff x="0" y="0"/>
            <a:chExt cx="1442472" cy="1442468"/>
          </a:xfrm>
        </p:grpSpPr>
        <p:sp>
          <p:nvSpPr>
            <p:cNvPr name="Freeform 7" id="7"/>
            <p:cNvSpPr/>
            <p:nvPr/>
          </p:nvSpPr>
          <p:spPr>
            <a:xfrm flipH="false" flipV="false" rot="0">
              <a:off x="0" y="0"/>
              <a:ext cx="1442466" cy="1442466"/>
            </a:xfrm>
            <a:custGeom>
              <a:avLst/>
              <a:gdLst/>
              <a:ahLst/>
              <a:cxnLst/>
              <a:rect r="r" b="b" t="t" l="l"/>
              <a:pathLst>
                <a:path h="1442466" w="1442466">
                  <a:moveTo>
                    <a:pt x="0" y="721233"/>
                  </a:moveTo>
                  <a:cubicBezTo>
                    <a:pt x="0" y="1119505"/>
                    <a:pt x="322961" y="1442466"/>
                    <a:pt x="721233" y="1442466"/>
                  </a:cubicBezTo>
                  <a:cubicBezTo>
                    <a:pt x="1119505" y="1442466"/>
                    <a:pt x="1442466" y="1119505"/>
                    <a:pt x="1442466" y="721233"/>
                  </a:cubicBezTo>
                  <a:cubicBezTo>
                    <a:pt x="1442466" y="322961"/>
                    <a:pt x="1119505" y="0"/>
                    <a:pt x="721233" y="0"/>
                  </a:cubicBezTo>
                  <a:cubicBezTo>
                    <a:pt x="322961" y="0"/>
                    <a:pt x="0" y="322961"/>
                    <a:pt x="0" y="721233"/>
                  </a:cubicBezTo>
                  <a:close/>
                </a:path>
              </a:pathLst>
            </a:custGeom>
            <a:solidFill>
              <a:srgbClr val="FFFFFF"/>
            </a:solidFill>
          </p:spPr>
        </p:sp>
      </p:grpSp>
      <p:grpSp>
        <p:nvGrpSpPr>
          <p:cNvPr name="Group 8" id="8"/>
          <p:cNvGrpSpPr/>
          <p:nvPr/>
        </p:nvGrpSpPr>
        <p:grpSpPr>
          <a:xfrm rot="0">
            <a:off x="7062836" y="3517702"/>
            <a:ext cx="1936108" cy="1627268"/>
            <a:chOff x="0" y="0"/>
            <a:chExt cx="509921" cy="428581"/>
          </a:xfrm>
        </p:grpSpPr>
        <p:sp>
          <p:nvSpPr>
            <p:cNvPr name="Freeform 9" id="9"/>
            <p:cNvSpPr/>
            <p:nvPr/>
          </p:nvSpPr>
          <p:spPr>
            <a:xfrm flipH="false" flipV="false" rot="0">
              <a:off x="0" y="0"/>
              <a:ext cx="509921" cy="428581"/>
            </a:xfrm>
            <a:custGeom>
              <a:avLst/>
              <a:gdLst/>
              <a:ahLst/>
              <a:cxnLst/>
              <a:rect r="r" b="b" t="t" l="l"/>
              <a:pathLst>
                <a:path h="428581" w="509921">
                  <a:moveTo>
                    <a:pt x="203934" y="0"/>
                  </a:moveTo>
                  <a:lnTo>
                    <a:pt x="305988" y="0"/>
                  </a:lnTo>
                  <a:cubicBezTo>
                    <a:pt x="418617" y="0"/>
                    <a:pt x="509921" y="91304"/>
                    <a:pt x="509921" y="203934"/>
                  </a:cubicBezTo>
                  <a:lnTo>
                    <a:pt x="509921" y="224647"/>
                  </a:lnTo>
                  <a:cubicBezTo>
                    <a:pt x="509921" y="278734"/>
                    <a:pt x="488436" y="330605"/>
                    <a:pt x="450191" y="368850"/>
                  </a:cubicBezTo>
                  <a:cubicBezTo>
                    <a:pt x="411946" y="407095"/>
                    <a:pt x="360074" y="428581"/>
                    <a:pt x="305988" y="428581"/>
                  </a:cubicBezTo>
                  <a:lnTo>
                    <a:pt x="203934" y="428581"/>
                  </a:lnTo>
                  <a:cubicBezTo>
                    <a:pt x="91304" y="428581"/>
                    <a:pt x="0" y="337277"/>
                    <a:pt x="0" y="224647"/>
                  </a:cubicBezTo>
                  <a:lnTo>
                    <a:pt x="0" y="203934"/>
                  </a:lnTo>
                  <a:cubicBezTo>
                    <a:pt x="0" y="91304"/>
                    <a:pt x="91304" y="0"/>
                    <a:pt x="203934" y="0"/>
                  </a:cubicBezTo>
                  <a:close/>
                </a:path>
              </a:pathLst>
            </a:custGeom>
            <a:solidFill>
              <a:srgbClr val="5755FE"/>
            </a:solidFill>
          </p:spPr>
        </p:sp>
        <p:sp>
          <p:nvSpPr>
            <p:cNvPr name="TextBox 10" id="10"/>
            <p:cNvSpPr txBox="true"/>
            <p:nvPr/>
          </p:nvSpPr>
          <p:spPr>
            <a:xfrm>
              <a:off x="0" y="-38100"/>
              <a:ext cx="509921" cy="46668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689123" y="5026867"/>
            <a:ext cx="1624378" cy="1625772"/>
            <a:chOff x="0" y="0"/>
            <a:chExt cx="427820" cy="428187"/>
          </a:xfrm>
        </p:grpSpPr>
        <p:sp>
          <p:nvSpPr>
            <p:cNvPr name="Freeform 12" id="12"/>
            <p:cNvSpPr/>
            <p:nvPr/>
          </p:nvSpPr>
          <p:spPr>
            <a:xfrm flipH="false" flipV="false" rot="0">
              <a:off x="0" y="0"/>
              <a:ext cx="427820" cy="428187"/>
            </a:xfrm>
            <a:custGeom>
              <a:avLst/>
              <a:gdLst/>
              <a:ahLst/>
              <a:cxnLst/>
              <a:rect r="r" b="b" t="t" l="l"/>
              <a:pathLst>
                <a:path h="428187" w="427820">
                  <a:moveTo>
                    <a:pt x="213910" y="0"/>
                  </a:moveTo>
                  <a:lnTo>
                    <a:pt x="213910" y="0"/>
                  </a:lnTo>
                  <a:cubicBezTo>
                    <a:pt x="270642" y="0"/>
                    <a:pt x="325051" y="22537"/>
                    <a:pt x="365167" y="62653"/>
                  </a:cubicBezTo>
                  <a:cubicBezTo>
                    <a:pt x="405283" y="102769"/>
                    <a:pt x="427820" y="157177"/>
                    <a:pt x="427820" y="213910"/>
                  </a:cubicBezTo>
                  <a:lnTo>
                    <a:pt x="427820" y="214277"/>
                  </a:lnTo>
                  <a:cubicBezTo>
                    <a:pt x="427820" y="271009"/>
                    <a:pt x="405283" y="325418"/>
                    <a:pt x="365167" y="365534"/>
                  </a:cubicBezTo>
                  <a:cubicBezTo>
                    <a:pt x="325051" y="405650"/>
                    <a:pt x="270642" y="428187"/>
                    <a:pt x="213910" y="428187"/>
                  </a:cubicBezTo>
                  <a:lnTo>
                    <a:pt x="213910" y="428187"/>
                  </a:lnTo>
                  <a:cubicBezTo>
                    <a:pt x="157177" y="428187"/>
                    <a:pt x="102769" y="405650"/>
                    <a:pt x="62653" y="365534"/>
                  </a:cubicBezTo>
                  <a:cubicBezTo>
                    <a:pt x="22537" y="325418"/>
                    <a:pt x="0" y="271009"/>
                    <a:pt x="0" y="214277"/>
                  </a:cubicBezTo>
                  <a:lnTo>
                    <a:pt x="0" y="213910"/>
                  </a:lnTo>
                  <a:cubicBezTo>
                    <a:pt x="0" y="157177"/>
                    <a:pt x="22537" y="102769"/>
                    <a:pt x="62653" y="62653"/>
                  </a:cubicBezTo>
                  <a:cubicBezTo>
                    <a:pt x="102769" y="22537"/>
                    <a:pt x="157177" y="0"/>
                    <a:pt x="213910" y="0"/>
                  </a:cubicBezTo>
                  <a:close/>
                </a:path>
              </a:pathLst>
            </a:custGeom>
            <a:solidFill>
              <a:srgbClr val="5755FE"/>
            </a:solidFill>
          </p:spPr>
        </p:sp>
        <p:sp>
          <p:nvSpPr>
            <p:cNvPr name="TextBox 13" id="13"/>
            <p:cNvSpPr txBox="true"/>
            <p:nvPr/>
          </p:nvSpPr>
          <p:spPr>
            <a:xfrm>
              <a:off x="0" y="-38100"/>
              <a:ext cx="427820" cy="46628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5820447" y="5268795"/>
            <a:ext cx="1764914" cy="1551166"/>
            <a:chOff x="0" y="0"/>
            <a:chExt cx="464833" cy="408538"/>
          </a:xfrm>
        </p:grpSpPr>
        <p:sp>
          <p:nvSpPr>
            <p:cNvPr name="Freeform 15" id="15"/>
            <p:cNvSpPr/>
            <p:nvPr/>
          </p:nvSpPr>
          <p:spPr>
            <a:xfrm flipH="false" flipV="false" rot="0">
              <a:off x="0" y="0"/>
              <a:ext cx="464833" cy="408538"/>
            </a:xfrm>
            <a:custGeom>
              <a:avLst/>
              <a:gdLst/>
              <a:ahLst/>
              <a:cxnLst/>
              <a:rect r="r" b="b" t="t" l="l"/>
              <a:pathLst>
                <a:path h="408538" w="464833">
                  <a:moveTo>
                    <a:pt x="204269" y="0"/>
                  </a:moveTo>
                  <a:lnTo>
                    <a:pt x="260564" y="0"/>
                  </a:lnTo>
                  <a:cubicBezTo>
                    <a:pt x="314740" y="0"/>
                    <a:pt x="366696" y="21521"/>
                    <a:pt x="405004" y="59829"/>
                  </a:cubicBezTo>
                  <a:cubicBezTo>
                    <a:pt x="443312" y="98137"/>
                    <a:pt x="464833" y="150093"/>
                    <a:pt x="464833" y="204269"/>
                  </a:cubicBezTo>
                  <a:lnTo>
                    <a:pt x="464833" y="204269"/>
                  </a:lnTo>
                  <a:cubicBezTo>
                    <a:pt x="464833" y="258444"/>
                    <a:pt x="443312" y="310401"/>
                    <a:pt x="405004" y="348709"/>
                  </a:cubicBezTo>
                  <a:cubicBezTo>
                    <a:pt x="366696" y="387016"/>
                    <a:pt x="314740" y="408538"/>
                    <a:pt x="260564" y="408538"/>
                  </a:cubicBezTo>
                  <a:lnTo>
                    <a:pt x="204269" y="408538"/>
                  </a:lnTo>
                  <a:cubicBezTo>
                    <a:pt x="150093" y="408538"/>
                    <a:pt x="98137" y="387016"/>
                    <a:pt x="59829" y="348709"/>
                  </a:cubicBezTo>
                  <a:cubicBezTo>
                    <a:pt x="21521" y="310401"/>
                    <a:pt x="0" y="258444"/>
                    <a:pt x="0" y="204269"/>
                  </a:cubicBezTo>
                  <a:lnTo>
                    <a:pt x="0" y="204269"/>
                  </a:lnTo>
                  <a:cubicBezTo>
                    <a:pt x="0" y="150093"/>
                    <a:pt x="21521" y="98137"/>
                    <a:pt x="59829" y="59829"/>
                  </a:cubicBezTo>
                  <a:cubicBezTo>
                    <a:pt x="98137" y="21521"/>
                    <a:pt x="150093" y="0"/>
                    <a:pt x="204269" y="0"/>
                  </a:cubicBezTo>
                  <a:close/>
                </a:path>
              </a:pathLst>
            </a:custGeom>
            <a:solidFill>
              <a:srgbClr val="5755FE"/>
            </a:solidFill>
          </p:spPr>
        </p:sp>
        <p:sp>
          <p:nvSpPr>
            <p:cNvPr name="TextBox 16" id="16"/>
            <p:cNvSpPr txBox="true"/>
            <p:nvPr/>
          </p:nvSpPr>
          <p:spPr>
            <a:xfrm>
              <a:off x="0" y="-38100"/>
              <a:ext cx="464833" cy="446638"/>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7390126" y="6553723"/>
            <a:ext cx="1740218" cy="1672477"/>
            <a:chOff x="0" y="0"/>
            <a:chExt cx="458329" cy="440488"/>
          </a:xfrm>
        </p:grpSpPr>
        <p:sp>
          <p:nvSpPr>
            <p:cNvPr name="Freeform 18" id="18"/>
            <p:cNvSpPr/>
            <p:nvPr/>
          </p:nvSpPr>
          <p:spPr>
            <a:xfrm flipH="false" flipV="false" rot="0">
              <a:off x="0" y="0"/>
              <a:ext cx="458329" cy="440488"/>
            </a:xfrm>
            <a:custGeom>
              <a:avLst/>
              <a:gdLst/>
              <a:ahLst/>
              <a:cxnLst/>
              <a:rect r="r" b="b" t="t" l="l"/>
              <a:pathLst>
                <a:path h="440488" w="458329">
                  <a:moveTo>
                    <a:pt x="220244" y="0"/>
                  </a:moveTo>
                  <a:lnTo>
                    <a:pt x="238085" y="0"/>
                  </a:lnTo>
                  <a:cubicBezTo>
                    <a:pt x="296497" y="0"/>
                    <a:pt x="352517" y="23204"/>
                    <a:pt x="393821" y="64508"/>
                  </a:cubicBezTo>
                  <a:cubicBezTo>
                    <a:pt x="435125" y="105812"/>
                    <a:pt x="458329" y="161832"/>
                    <a:pt x="458329" y="220244"/>
                  </a:cubicBezTo>
                  <a:lnTo>
                    <a:pt x="458329" y="220244"/>
                  </a:lnTo>
                  <a:cubicBezTo>
                    <a:pt x="458329" y="278656"/>
                    <a:pt x="435125" y="334676"/>
                    <a:pt x="393821" y="375980"/>
                  </a:cubicBezTo>
                  <a:cubicBezTo>
                    <a:pt x="352517" y="417284"/>
                    <a:pt x="296497" y="440488"/>
                    <a:pt x="238085" y="440488"/>
                  </a:cubicBezTo>
                  <a:lnTo>
                    <a:pt x="220244" y="440488"/>
                  </a:lnTo>
                  <a:cubicBezTo>
                    <a:pt x="161832" y="440488"/>
                    <a:pt x="105812" y="417284"/>
                    <a:pt x="64508" y="375980"/>
                  </a:cubicBezTo>
                  <a:cubicBezTo>
                    <a:pt x="23204" y="334676"/>
                    <a:pt x="0" y="278656"/>
                    <a:pt x="0" y="220244"/>
                  </a:cubicBezTo>
                  <a:lnTo>
                    <a:pt x="0" y="220244"/>
                  </a:lnTo>
                  <a:cubicBezTo>
                    <a:pt x="0" y="161832"/>
                    <a:pt x="23204" y="105812"/>
                    <a:pt x="64508" y="64508"/>
                  </a:cubicBezTo>
                  <a:cubicBezTo>
                    <a:pt x="105812" y="23204"/>
                    <a:pt x="161832" y="0"/>
                    <a:pt x="220244" y="0"/>
                  </a:cubicBezTo>
                  <a:close/>
                </a:path>
              </a:pathLst>
            </a:custGeom>
            <a:solidFill>
              <a:srgbClr val="5755FE"/>
            </a:solidFill>
          </p:spPr>
        </p:sp>
        <p:sp>
          <p:nvSpPr>
            <p:cNvPr name="TextBox 19" id="19"/>
            <p:cNvSpPr txBox="true"/>
            <p:nvPr/>
          </p:nvSpPr>
          <p:spPr>
            <a:xfrm>
              <a:off x="0" y="-38100"/>
              <a:ext cx="458329" cy="478588"/>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8998944" y="5395307"/>
            <a:ext cx="910766" cy="910766"/>
          </a:xfrm>
          <a:custGeom>
            <a:avLst/>
            <a:gdLst/>
            <a:ahLst/>
            <a:cxnLst/>
            <a:rect r="r" b="b" t="t" l="l"/>
            <a:pathLst>
              <a:path h="910766" w="910766">
                <a:moveTo>
                  <a:pt x="0" y="0"/>
                </a:moveTo>
                <a:lnTo>
                  <a:pt x="910766" y="0"/>
                </a:lnTo>
                <a:lnTo>
                  <a:pt x="910766" y="910766"/>
                </a:lnTo>
                <a:lnTo>
                  <a:pt x="0" y="910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7717360" y="3933290"/>
            <a:ext cx="727874" cy="698759"/>
          </a:xfrm>
          <a:custGeom>
            <a:avLst/>
            <a:gdLst/>
            <a:ahLst/>
            <a:cxnLst/>
            <a:rect r="r" b="b" t="t" l="l"/>
            <a:pathLst>
              <a:path h="698759" w="727874">
                <a:moveTo>
                  <a:pt x="0" y="0"/>
                </a:moveTo>
                <a:lnTo>
                  <a:pt x="727874" y="0"/>
                </a:lnTo>
                <a:lnTo>
                  <a:pt x="727874" y="698759"/>
                </a:lnTo>
                <a:lnTo>
                  <a:pt x="0" y="698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7845003" y="6827211"/>
            <a:ext cx="857776" cy="910766"/>
          </a:xfrm>
          <a:custGeom>
            <a:avLst/>
            <a:gdLst/>
            <a:ahLst/>
            <a:cxnLst/>
            <a:rect r="r" b="b" t="t" l="l"/>
            <a:pathLst>
              <a:path h="910766" w="857776">
                <a:moveTo>
                  <a:pt x="0" y="0"/>
                </a:moveTo>
                <a:lnTo>
                  <a:pt x="857776" y="0"/>
                </a:lnTo>
                <a:lnTo>
                  <a:pt x="857776" y="910766"/>
                </a:lnTo>
                <a:lnTo>
                  <a:pt x="0" y="9107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6368630" y="5741873"/>
            <a:ext cx="694205" cy="564200"/>
          </a:xfrm>
          <a:custGeom>
            <a:avLst/>
            <a:gdLst/>
            <a:ahLst/>
            <a:cxnLst/>
            <a:rect r="r" b="b" t="t" l="l"/>
            <a:pathLst>
              <a:path h="564200" w="694205">
                <a:moveTo>
                  <a:pt x="0" y="0"/>
                </a:moveTo>
                <a:lnTo>
                  <a:pt x="694206" y="0"/>
                </a:lnTo>
                <a:lnTo>
                  <a:pt x="694206" y="564200"/>
                </a:lnTo>
                <a:lnTo>
                  <a:pt x="0" y="5642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4" id="24"/>
          <p:cNvSpPr txBox="true"/>
          <p:nvPr/>
        </p:nvSpPr>
        <p:spPr>
          <a:xfrm rot="0">
            <a:off x="1028700" y="726851"/>
            <a:ext cx="6375082" cy="588645"/>
          </a:xfrm>
          <a:prstGeom prst="rect">
            <a:avLst/>
          </a:prstGeom>
        </p:spPr>
        <p:txBody>
          <a:bodyPr anchor="t" rtlCol="false" tIns="0" lIns="0" bIns="0" rIns="0">
            <a:spAutoFit/>
          </a:bodyPr>
          <a:lstStyle/>
          <a:p>
            <a:pPr algn="l">
              <a:lnSpc>
                <a:spcPts val="4320"/>
              </a:lnSpc>
            </a:pPr>
            <a:r>
              <a:rPr lang="en-US" sz="3600" b="true">
                <a:solidFill>
                  <a:srgbClr val="FFFFFF"/>
                </a:solidFill>
                <a:latin typeface="Helvetica World Bold"/>
                <a:ea typeface="Helvetica World Bold"/>
                <a:cs typeface="Helvetica World Bold"/>
                <a:sym typeface="Helvetica World Bold"/>
              </a:rPr>
              <a:t>Ploblem statement</a:t>
            </a:r>
          </a:p>
        </p:txBody>
      </p:sp>
      <p:sp>
        <p:nvSpPr>
          <p:cNvPr name="TextBox 25" id="25"/>
          <p:cNvSpPr txBox="true"/>
          <p:nvPr/>
        </p:nvSpPr>
        <p:spPr>
          <a:xfrm rot="0">
            <a:off x="8260235" y="726851"/>
            <a:ext cx="521037" cy="588645"/>
          </a:xfrm>
          <a:prstGeom prst="rect">
            <a:avLst/>
          </a:prstGeom>
        </p:spPr>
        <p:txBody>
          <a:bodyPr anchor="t" rtlCol="false" tIns="0" lIns="0" bIns="0" rIns="0">
            <a:spAutoFit/>
          </a:bodyPr>
          <a:lstStyle/>
          <a:p>
            <a:pPr algn="ctr">
              <a:lnSpc>
                <a:spcPts val="4320"/>
              </a:lnSpc>
            </a:pPr>
            <a:r>
              <a:rPr lang="en-US" sz="3600" b="true">
                <a:solidFill>
                  <a:srgbClr val="5755FE"/>
                </a:solidFill>
                <a:latin typeface="Helvetica World Bold"/>
                <a:ea typeface="Helvetica World Bold"/>
                <a:cs typeface="Helvetica World Bold"/>
                <a:sym typeface="Helvetica World Bold"/>
              </a:rPr>
              <a:t>1</a:t>
            </a:r>
          </a:p>
        </p:txBody>
      </p:sp>
      <p:sp>
        <p:nvSpPr>
          <p:cNvPr name="TextBox 26" id="26"/>
          <p:cNvSpPr txBox="true"/>
          <p:nvPr/>
        </p:nvSpPr>
        <p:spPr>
          <a:xfrm rot="0">
            <a:off x="1028700" y="2441527"/>
            <a:ext cx="5118255" cy="960120"/>
          </a:xfrm>
          <a:prstGeom prst="rect">
            <a:avLst/>
          </a:prstGeom>
        </p:spPr>
        <p:txBody>
          <a:bodyPr anchor="t" rtlCol="false" tIns="0" lIns="0" bIns="0" rIns="0">
            <a:spAutoFit/>
          </a:bodyPr>
          <a:lstStyle/>
          <a:p>
            <a:pPr algn="ctr">
              <a:lnSpc>
                <a:spcPts val="3600"/>
              </a:lnSpc>
            </a:pPr>
            <a:r>
              <a:rPr lang="en-US" sz="3000" b="true">
                <a:solidFill>
                  <a:srgbClr val="5755FE"/>
                </a:solidFill>
                <a:latin typeface="Helvetica World Bold"/>
                <a:ea typeface="Helvetica World Bold"/>
                <a:cs typeface="Helvetica World Bold"/>
                <a:sym typeface="Helvetica World Bold"/>
              </a:rPr>
              <a:t>Problem Definition</a:t>
            </a:r>
          </a:p>
          <a:p>
            <a:pPr algn="ctr">
              <a:lnSpc>
                <a:spcPts val="3600"/>
              </a:lnSpc>
            </a:pPr>
          </a:p>
        </p:txBody>
      </p:sp>
      <p:sp>
        <p:nvSpPr>
          <p:cNvPr name="TextBox 27" id="27"/>
          <p:cNvSpPr txBox="true"/>
          <p:nvPr/>
        </p:nvSpPr>
        <p:spPr>
          <a:xfrm rot="0">
            <a:off x="241628" y="3133801"/>
            <a:ext cx="5744237" cy="3114121"/>
          </a:xfrm>
          <a:prstGeom prst="rect">
            <a:avLst/>
          </a:prstGeom>
        </p:spPr>
        <p:txBody>
          <a:bodyPr anchor="t" rtlCol="false" tIns="0" lIns="0" bIns="0" rIns="0">
            <a:spAutoFit/>
          </a:bodyPr>
          <a:lstStyle/>
          <a:p>
            <a:pPr algn="l">
              <a:lnSpc>
                <a:spcPts val="3111"/>
              </a:lnSpc>
            </a:pPr>
            <a:r>
              <a:rPr lang="en-US" sz="1728">
                <a:solidFill>
                  <a:srgbClr val="000000"/>
                </a:solidFill>
                <a:latin typeface="Helvetica World"/>
                <a:ea typeface="Helvetica World"/>
                <a:cs typeface="Helvetica World"/>
                <a:sym typeface="Helvetica World"/>
              </a:rPr>
              <a:t>The</a:t>
            </a:r>
            <a:r>
              <a:rPr lang="en-US" sz="1728">
                <a:solidFill>
                  <a:srgbClr val="000000"/>
                </a:solidFill>
                <a:latin typeface="Helvetica World"/>
                <a:ea typeface="Helvetica World"/>
                <a:cs typeface="Helvetica World"/>
                <a:sym typeface="Helvetica World"/>
              </a:rPr>
              <a:t> DISASTER TRACKING SYSTEM aims to address the challenges of managing and responding to natural disasters, such as floods, earthquakes, and hurricanes. During such events, timely information is crucial for effective response and recovery. The current systems often lack real-time data, leading to delays in rescue operations, inefficient resource allocation, and increased risks to human life and property.</a:t>
            </a:r>
          </a:p>
        </p:txBody>
      </p:sp>
      <p:sp>
        <p:nvSpPr>
          <p:cNvPr name="TextBox 28" id="28"/>
          <p:cNvSpPr txBox="true"/>
          <p:nvPr/>
        </p:nvSpPr>
        <p:spPr>
          <a:xfrm rot="0">
            <a:off x="-402708" y="6429842"/>
            <a:ext cx="5118255" cy="960120"/>
          </a:xfrm>
          <a:prstGeom prst="rect">
            <a:avLst/>
          </a:prstGeom>
        </p:spPr>
        <p:txBody>
          <a:bodyPr anchor="t" rtlCol="false" tIns="0" lIns="0" bIns="0" rIns="0">
            <a:spAutoFit/>
          </a:bodyPr>
          <a:lstStyle/>
          <a:p>
            <a:pPr algn="ctr">
              <a:lnSpc>
                <a:spcPts val="3600"/>
              </a:lnSpc>
            </a:pPr>
            <a:r>
              <a:rPr lang="en-US" sz="3000" b="true">
                <a:solidFill>
                  <a:srgbClr val="5755FE"/>
                </a:solidFill>
                <a:latin typeface="Helvetica World Bold"/>
                <a:ea typeface="Helvetica World Bold"/>
                <a:cs typeface="Helvetica World Bold"/>
                <a:sym typeface="Helvetica World Bold"/>
              </a:rPr>
              <a:t>Context</a:t>
            </a:r>
          </a:p>
          <a:p>
            <a:pPr algn="ctr">
              <a:lnSpc>
                <a:spcPts val="3600"/>
              </a:lnSpc>
            </a:pPr>
          </a:p>
        </p:txBody>
      </p:sp>
      <p:sp>
        <p:nvSpPr>
          <p:cNvPr name="TextBox 29" id="29"/>
          <p:cNvSpPr txBox="true"/>
          <p:nvPr/>
        </p:nvSpPr>
        <p:spPr>
          <a:xfrm rot="0">
            <a:off x="241628" y="6971821"/>
            <a:ext cx="5527482" cy="3499396"/>
          </a:xfrm>
          <a:prstGeom prst="rect">
            <a:avLst/>
          </a:prstGeom>
        </p:spPr>
        <p:txBody>
          <a:bodyPr anchor="t" rtlCol="false" tIns="0" lIns="0" bIns="0" rIns="0">
            <a:spAutoFit/>
          </a:bodyPr>
          <a:lstStyle/>
          <a:p>
            <a:pPr algn="l">
              <a:lnSpc>
                <a:spcPts val="2747"/>
              </a:lnSpc>
            </a:pPr>
            <a:r>
              <a:rPr lang="en-US" sz="1526">
                <a:solidFill>
                  <a:srgbClr val="000000"/>
                </a:solidFill>
                <a:latin typeface="Helvetica World"/>
                <a:ea typeface="Helvetica World"/>
                <a:cs typeface="Helvetica World"/>
                <a:sym typeface="Helvetica World"/>
              </a:rPr>
              <a:t>The system w</a:t>
            </a:r>
            <a:r>
              <a:rPr lang="en-US" sz="1526">
                <a:solidFill>
                  <a:srgbClr val="000000"/>
                </a:solidFill>
                <a:latin typeface="Helvetica World"/>
                <a:ea typeface="Helvetica World"/>
                <a:cs typeface="Helvetica World"/>
                <a:sym typeface="Helvetica World"/>
              </a:rPr>
              <a:t>ill be used in various settings, including:</a:t>
            </a:r>
          </a:p>
          <a:p>
            <a:pPr algn="l" marL="329501" indent="-164751" lvl="1">
              <a:lnSpc>
                <a:spcPts val="2747"/>
              </a:lnSpc>
              <a:buFont typeface="Arial"/>
              <a:buChar char="•"/>
            </a:pPr>
            <a:r>
              <a:rPr lang="en-US" b="true" sz="1526" u="sng">
                <a:solidFill>
                  <a:srgbClr val="000000"/>
                </a:solidFill>
                <a:latin typeface="Helvetica World Bold"/>
                <a:ea typeface="Helvetica World Bold"/>
                <a:cs typeface="Helvetica World Bold"/>
                <a:sym typeface="Helvetica World Bold"/>
              </a:rPr>
              <a:t>Emergency Response Centers</a:t>
            </a:r>
            <a:r>
              <a:rPr lang="en-US" sz="1526">
                <a:solidFill>
                  <a:srgbClr val="000000"/>
                </a:solidFill>
                <a:latin typeface="Helvetica World"/>
                <a:ea typeface="Helvetica World"/>
                <a:cs typeface="Helvetica World"/>
                <a:sym typeface="Helvetica World"/>
              </a:rPr>
              <a:t>: To coordinate rescue operations and resource distribution.</a:t>
            </a:r>
          </a:p>
          <a:p>
            <a:pPr algn="l" marL="329501" indent="-164751" lvl="1">
              <a:lnSpc>
                <a:spcPts val="2747"/>
              </a:lnSpc>
              <a:buFont typeface="Arial"/>
              <a:buChar char="•"/>
            </a:pPr>
            <a:r>
              <a:rPr lang="en-US" b="true" sz="1526" u="sng">
                <a:solidFill>
                  <a:srgbClr val="000000"/>
                </a:solidFill>
                <a:latin typeface="Helvetica World Bold"/>
                <a:ea typeface="Helvetica World Bold"/>
                <a:cs typeface="Helvetica World Bold"/>
                <a:sym typeface="Helvetica World Bold"/>
              </a:rPr>
              <a:t>Government Agencies</a:t>
            </a:r>
            <a:r>
              <a:rPr lang="en-US" sz="1526">
                <a:solidFill>
                  <a:srgbClr val="000000"/>
                </a:solidFill>
                <a:latin typeface="Helvetica World"/>
                <a:ea typeface="Helvetica World"/>
                <a:cs typeface="Helvetica World"/>
                <a:sym typeface="Helvetica World"/>
              </a:rPr>
              <a:t>: For planning and implementing disaster management strategies.</a:t>
            </a:r>
          </a:p>
          <a:p>
            <a:pPr algn="l" marL="329501" indent="-164751" lvl="1">
              <a:lnSpc>
                <a:spcPts val="2747"/>
              </a:lnSpc>
              <a:buFont typeface="Arial"/>
              <a:buChar char="•"/>
            </a:pPr>
            <a:r>
              <a:rPr lang="en-US" b="true" sz="1526" u="sng">
                <a:solidFill>
                  <a:srgbClr val="000000"/>
                </a:solidFill>
                <a:latin typeface="Helvetica World Bold"/>
                <a:ea typeface="Helvetica World Bold"/>
                <a:cs typeface="Helvetica World Bold"/>
                <a:sym typeface="Helvetica World Bold"/>
              </a:rPr>
              <a:t>Non-Governmental Organizations (NGOs)</a:t>
            </a:r>
            <a:r>
              <a:rPr lang="en-US" sz="1526">
                <a:solidFill>
                  <a:srgbClr val="000000"/>
                </a:solidFill>
                <a:latin typeface="Helvetica World"/>
                <a:ea typeface="Helvetica World"/>
                <a:cs typeface="Helvetica World"/>
                <a:sym typeface="Helvetica World"/>
              </a:rPr>
              <a:t>: To provide aid and support to affected communities.</a:t>
            </a:r>
          </a:p>
          <a:p>
            <a:pPr algn="l" marL="329501" indent="-164751" lvl="1">
              <a:lnSpc>
                <a:spcPts val="2747"/>
              </a:lnSpc>
              <a:buFont typeface="Arial"/>
              <a:buChar char="•"/>
            </a:pPr>
            <a:r>
              <a:rPr lang="en-US" b="true" sz="1526" u="sng">
                <a:solidFill>
                  <a:srgbClr val="000000"/>
                </a:solidFill>
                <a:latin typeface="Helvetica World Bold"/>
                <a:ea typeface="Helvetica World Bold"/>
                <a:cs typeface="Helvetica World Bold"/>
                <a:sym typeface="Helvetica World Bold"/>
              </a:rPr>
              <a:t>Community Centers:</a:t>
            </a:r>
            <a:r>
              <a:rPr lang="en-US" sz="1526">
                <a:solidFill>
                  <a:srgbClr val="000000"/>
                </a:solidFill>
                <a:latin typeface="Helvetica World"/>
                <a:ea typeface="Helvetica World"/>
                <a:cs typeface="Helvetica World"/>
                <a:sym typeface="Helvetica World"/>
              </a:rPr>
              <a:t> To inform local residents about safety measures and available resources during disasters.</a:t>
            </a:r>
          </a:p>
          <a:p>
            <a:pPr algn="l">
              <a:lnSpc>
                <a:spcPts val="2747"/>
              </a:lnSpc>
            </a:pPr>
          </a:p>
        </p:txBody>
      </p:sp>
      <p:sp>
        <p:nvSpPr>
          <p:cNvPr name="TextBox 30" id="30"/>
          <p:cNvSpPr txBox="true"/>
          <p:nvPr/>
        </p:nvSpPr>
        <p:spPr>
          <a:xfrm rot="0">
            <a:off x="11840704" y="1961467"/>
            <a:ext cx="5118255" cy="960120"/>
          </a:xfrm>
          <a:prstGeom prst="rect">
            <a:avLst/>
          </a:prstGeom>
        </p:spPr>
        <p:txBody>
          <a:bodyPr anchor="t" rtlCol="false" tIns="0" lIns="0" bIns="0" rIns="0">
            <a:spAutoFit/>
          </a:bodyPr>
          <a:lstStyle/>
          <a:p>
            <a:pPr algn="ctr">
              <a:lnSpc>
                <a:spcPts val="3600"/>
              </a:lnSpc>
            </a:pPr>
            <a:r>
              <a:rPr lang="en-US" sz="3000" b="true">
                <a:solidFill>
                  <a:srgbClr val="5755FE"/>
                </a:solidFill>
                <a:latin typeface="Helvetica World Bold"/>
                <a:ea typeface="Helvetica World Bold"/>
                <a:cs typeface="Helvetica World Bold"/>
                <a:sym typeface="Helvetica World Bold"/>
              </a:rPr>
              <a:t>Target Users</a:t>
            </a:r>
          </a:p>
          <a:p>
            <a:pPr algn="ctr">
              <a:lnSpc>
                <a:spcPts val="3600"/>
              </a:lnSpc>
            </a:pPr>
          </a:p>
        </p:txBody>
      </p:sp>
      <p:sp>
        <p:nvSpPr>
          <p:cNvPr name="TextBox 31" id="31"/>
          <p:cNvSpPr txBox="true"/>
          <p:nvPr/>
        </p:nvSpPr>
        <p:spPr>
          <a:xfrm rot="0">
            <a:off x="10742377" y="3143326"/>
            <a:ext cx="7314911" cy="2891721"/>
          </a:xfrm>
          <a:prstGeom prst="rect">
            <a:avLst/>
          </a:prstGeom>
        </p:spPr>
        <p:txBody>
          <a:bodyPr anchor="t" rtlCol="false" tIns="0" lIns="0" bIns="0" rIns="0">
            <a:spAutoFit/>
          </a:bodyPr>
          <a:lstStyle/>
          <a:p>
            <a:pPr algn="l" marL="307853" indent="-153927" lvl="1">
              <a:lnSpc>
                <a:spcPts val="2566"/>
              </a:lnSpc>
              <a:buFont typeface="Arial"/>
              <a:buChar char="•"/>
            </a:pPr>
            <a:r>
              <a:rPr lang="en-US" sz="1425">
                <a:solidFill>
                  <a:srgbClr val="000000"/>
                </a:solidFill>
                <a:latin typeface="Helvetica World"/>
                <a:ea typeface="Helvetica World"/>
                <a:cs typeface="Helvetica World"/>
                <a:sym typeface="Helvetica World"/>
              </a:rPr>
              <a:t>The primary beneficiaries of the DISASTER TRACKING SYSTEM include:</a:t>
            </a:r>
          </a:p>
          <a:p>
            <a:pPr algn="l" marL="307853" indent="-153927" lvl="1">
              <a:lnSpc>
                <a:spcPts val="2566"/>
              </a:lnSpc>
              <a:buFont typeface="Arial"/>
              <a:buChar char="•"/>
            </a:pPr>
            <a:r>
              <a:rPr lang="en-US" sz="1425">
                <a:solidFill>
                  <a:srgbClr val="000000"/>
                </a:solidFill>
                <a:latin typeface="Helvetica World"/>
                <a:ea typeface="Helvetica World"/>
                <a:cs typeface="Helvetica World"/>
                <a:sym typeface="Helvetica World"/>
              </a:rPr>
              <a:t>Emergency Responders: Firefighters, paramedics, and rescue teams who need real-time data to make informed decisions.</a:t>
            </a:r>
          </a:p>
          <a:p>
            <a:pPr algn="l" marL="307853" indent="-153927" lvl="1">
              <a:lnSpc>
                <a:spcPts val="2566"/>
              </a:lnSpc>
              <a:buFont typeface="Arial"/>
              <a:buChar char="•"/>
            </a:pPr>
            <a:r>
              <a:rPr lang="en-US" sz="1425">
                <a:solidFill>
                  <a:srgbClr val="000000"/>
                </a:solidFill>
                <a:latin typeface="Helvetica World"/>
                <a:ea typeface="Helvetica World"/>
                <a:cs typeface="Helvetica World"/>
                <a:sym typeface="Helvetica World"/>
              </a:rPr>
              <a:t>G</a:t>
            </a:r>
            <a:r>
              <a:rPr lang="en-US" sz="1425">
                <a:solidFill>
                  <a:srgbClr val="000000"/>
                </a:solidFill>
                <a:latin typeface="Helvetica World"/>
                <a:ea typeface="Helvetica World"/>
                <a:cs typeface="Helvetica World"/>
                <a:sym typeface="Helvetica World"/>
              </a:rPr>
              <a:t>overnment Officials: Policymakers and disaster management teams who require accurate information for planning and response.</a:t>
            </a:r>
          </a:p>
          <a:p>
            <a:pPr algn="l" marL="307853" indent="-153927" lvl="1">
              <a:lnSpc>
                <a:spcPts val="2566"/>
              </a:lnSpc>
              <a:buFont typeface="Arial"/>
              <a:buChar char="•"/>
            </a:pPr>
            <a:r>
              <a:rPr lang="en-US" sz="1425">
                <a:solidFill>
                  <a:srgbClr val="000000"/>
                </a:solidFill>
                <a:latin typeface="Helvetica World"/>
                <a:ea typeface="Helvetica World"/>
                <a:cs typeface="Helvetica World"/>
                <a:sym typeface="Helvetica World"/>
              </a:rPr>
              <a:t>NGO Workers: Individuals involved in providing aid and support to affected populations.</a:t>
            </a:r>
          </a:p>
          <a:p>
            <a:pPr algn="l" marL="307853" indent="-153927" lvl="1">
              <a:lnSpc>
                <a:spcPts val="2566"/>
              </a:lnSpc>
              <a:buFont typeface="Arial"/>
              <a:buChar char="•"/>
            </a:pPr>
            <a:r>
              <a:rPr lang="en-US" sz="1425">
                <a:solidFill>
                  <a:srgbClr val="000000"/>
                </a:solidFill>
                <a:latin typeface="Helvetica World"/>
                <a:ea typeface="Helvetica World"/>
                <a:cs typeface="Helvetica World"/>
                <a:sym typeface="Helvetica World"/>
              </a:rPr>
              <a:t>Community Members: Residents who need timely updates and safety information during disasters.</a:t>
            </a:r>
          </a:p>
          <a:p>
            <a:pPr algn="l">
              <a:lnSpc>
                <a:spcPts val="2566"/>
              </a:lnSpc>
            </a:pPr>
          </a:p>
        </p:txBody>
      </p:sp>
      <p:sp>
        <p:nvSpPr>
          <p:cNvPr name="TextBox 32" id="32"/>
          <p:cNvSpPr txBox="true"/>
          <p:nvPr/>
        </p:nvSpPr>
        <p:spPr>
          <a:xfrm rot="0">
            <a:off x="11633850" y="6172579"/>
            <a:ext cx="5118255" cy="960120"/>
          </a:xfrm>
          <a:prstGeom prst="rect">
            <a:avLst/>
          </a:prstGeom>
        </p:spPr>
        <p:txBody>
          <a:bodyPr anchor="t" rtlCol="false" tIns="0" lIns="0" bIns="0" rIns="0">
            <a:spAutoFit/>
          </a:bodyPr>
          <a:lstStyle/>
          <a:p>
            <a:pPr algn="ctr">
              <a:lnSpc>
                <a:spcPts val="3600"/>
              </a:lnSpc>
            </a:pPr>
            <a:r>
              <a:rPr lang="en-US" sz="3000" b="true">
                <a:solidFill>
                  <a:srgbClr val="5755FE"/>
                </a:solidFill>
                <a:latin typeface="Helvetica World Bold"/>
                <a:ea typeface="Helvetica World Bold"/>
                <a:cs typeface="Helvetica World Bold"/>
                <a:sym typeface="Helvetica World Bold"/>
              </a:rPr>
              <a:t>Project Goals:</a:t>
            </a:r>
          </a:p>
          <a:p>
            <a:pPr algn="ctr">
              <a:lnSpc>
                <a:spcPts val="3600"/>
              </a:lnSpc>
            </a:pPr>
          </a:p>
        </p:txBody>
      </p:sp>
      <p:sp>
        <p:nvSpPr>
          <p:cNvPr name="TextBox 33" id="33"/>
          <p:cNvSpPr txBox="true"/>
          <p:nvPr/>
        </p:nvSpPr>
        <p:spPr>
          <a:xfrm rot="0">
            <a:off x="10742377" y="7050479"/>
            <a:ext cx="7314911" cy="2903150"/>
          </a:xfrm>
          <a:prstGeom prst="rect">
            <a:avLst/>
          </a:prstGeom>
        </p:spPr>
        <p:txBody>
          <a:bodyPr anchor="t" rtlCol="false" tIns="0" lIns="0" bIns="0" rIns="0">
            <a:spAutoFit/>
          </a:bodyPr>
          <a:lstStyle/>
          <a:p>
            <a:pPr algn="l" marL="388819" indent="-194410" lvl="1">
              <a:lnSpc>
                <a:spcPts val="3241"/>
              </a:lnSpc>
              <a:buFont typeface="Arial"/>
              <a:buChar char="•"/>
            </a:pPr>
            <a:r>
              <a:rPr lang="en-US" b="true" sz="1800" u="sng">
                <a:solidFill>
                  <a:srgbClr val="000000"/>
                </a:solidFill>
                <a:latin typeface="Helvetica World Bold"/>
                <a:ea typeface="Helvetica World Bold"/>
                <a:cs typeface="Helvetica World Bold"/>
                <a:sym typeface="Helvetica World Bold"/>
              </a:rPr>
              <a:t>A</a:t>
            </a:r>
            <a:r>
              <a:rPr lang="en-US" b="true" sz="1800" u="sng">
                <a:solidFill>
                  <a:srgbClr val="000000"/>
                </a:solidFill>
                <a:latin typeface="Helvetica World Bold"/>
                <a:ea typeface="Helvetica World Bold"/>
                <a:cs typeface="Helvetica World Bold"/>
                <a:sym typeface="Helvetica World Bold"/>
              </a:rPr>
              <a:t>utomate Workflows:</a:t>
            </a:r>
            <a:r>
              <a:rPr lang="en-US" sz="1800">
                <a:solidFill>
                  <a:srgbClr val="000000"/>
                </a:solidFill>
                <a:latin typeface="Helvetica World"/>
                <a:ea typeface="Helvetica World"/>
                <a:cs typeface="Helvetica World"/>
                <a:sym typeface="Helvetica World"/>
              </a:rPr>
              <a:t> Streamline the process of data collection, analysis, and dissemination during disasters.</a:t>
            </a:r>
          </a:p>
          <a:p>
            <a:pPr algn="l" marL="388819" indent="-194410" lvl="1">
              <a:lnSpc>
                <a:spcPts val="3241"/>
              </a:lnSpc>
              <a:buFont typeface="Arial"/>
              <a:buChar char="•"/>
            </a:pPr>
            <a:r>
              <a:rPr lang="en-US" b="true" sz="1800" u="sng">
                <a:solidFill>
                  <a:srgbClr val="000000"/>
                </a:solidFill>
                <a:latin typeface="Helvetica World Bold"/>
                <a:ea typeface="Helvetica World Bold"/>
                <a:cs typeface="Helvetica World Bold"/>
                <a:sym typeface="Helvetica World Bold"/>
              </a:rPr>
              <a:t>Improve Accuracy:</a:t>
            </a:r>
            <a:r>
              <a:rPr lang="en-US" sz="1800">
                <a:solidFill>
                  <a:srgbClr val="000000"/>
                </a:solidFill>
                <a:latin typeface="Helvetica World"/>
                <a:ea typeface="Helvetica World"/>
                <a:cs typeface="Helvetica World"/>
                <a:sym typeface="Helvetica World"/>
              </a:rPr>
              <a:t> Provide real-time, accurate information to enhance decision-making.</a:t>
            </a:r>
          </a:p>
          <a:p>
            <a:pPr algn="l" marL="388819" indent="-194410" lvl="1">
              <a:lnSpc>
                <a:spcPts val="3241"/>
              </a:lnSpc>
              <a:buFont typeface="Arial"/>
              <a:buChar char="•"/>
            </a:pPr>
            <a:r>
              <a:rPr lang="en-US" b="true" sz="1800" u="sng">
                <a:solidFill>
                  <a:srgbClr val="000000"/>
                </a:solidFill>
                <a:latin typeface="Helvetica World Bold"/>
                <a:ea typeface="Helvetica World Bold"/>
                <a:cs typeface="Helvetica World Bold"/>
                <a:sym typeface="Helvetica World Bold"/>
              </a:rPr>
              <a:t>Enhance Data Security:</a:t>
            </a:r>
            <a:r>
              <a:rPr lang="en-US" sz="1800">
                <a:solidFill>
                  <a:srgbClr val="000000"/>
                </a:solidFill>
                <a:latin typeface="Helvetica World"/>
                <a:ea typeface="Helvetica World"/>
                <a:cs typeface="Helvetica World"/>
                <a:sym typeface="Helvetica World"/>
              </a:rPr>
              <a:t> Ensure that sensitive information is protected and accessible only to authorized users.</a:t>
            </a:r>
          </a:p>
          <a:p>
            <a:pPr algn="l">
              <a:lnSpc>
                <a:spcPts val="3241"/>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75066"/>
            <a:ext cx="8514087" cy="1246496"/>
            <a:chOff x="0" y="0"/>
            <a:chExt cx="11352116" cy="1661994"/>
          </a:xfrm>
        </p:grpSpPr>
        <p:sp>
          <p:nvSpPr>
            <p:cNvPr name="Freeform 3" id="3"/>
            <p:cNvSpPr/>
            <p:nvPr/>
          </p:nvSpPr>
          <p:spPr>
            <a:xfrm flipH="false" flipV="false" rot="0">
              <a:off x="0" y="0"/>
              <a:ext cx="11352149" cy="1662049"/>
            </a:xfrm>
            <a:custGeom>
              <a:avLst/>
              <a:gdLst/>
              <a:ahLst/>
              <a:cxnLst/>
              <a:rect r="r" b="b" t="t" l="l"/>
              <a:pathLst>
                <a:path h="1662049" w="11352149">
                  <a:moveTo>
                    <a:pt x="0" y="0"/>
                  </a:moveTo>
                  <a:lnTo>
                    <a:pt x="11352149" y="0"/>
                  </a:lnTo>
                  <a:lnTo>
                    <a:pt x="11352149" y="1662049"/>
                  </a:lnTo>
                  <a:lnTo>
                    <a:pt x="0" y="1662049"/>
                  </a:lnTo>
                  <a:close/>
                </a:path>
              </a:pathLst>
            </a:custGeom>
            <a:solidFill>
              <a:srgbClr val="5755FE"/>
            </a:solidFill>
          </p:spPr>
        </p:sp>
      </p:grpSp>
      <p:grpSp>
        <p:nvGrpSpPr>
          <p:cNvPr name="Group 4" id="4"/>
          <p:cNvGrpSpPr/>
          <p:nvPr/>
        </p:nvGrpSpPr>
        <p:grpSpPr>
          <a:xfrm rot="0">
            <a:off x="7897504" y="375066"/>
            <a:ext cx="1246496" cy="1246496"/>
            <a:chOff x="0" y="0"/>
            <a:chExt cx="1661994" cy="1661994"/>
          </a:xfrm>
        </p:grpSpPr>
        <p:sp>
          <p:nvSpPr>
            <p:cNvPr name="Freeform 5" id="5"/>
            <p:cNvSpPr/>
            <p:nvPr/>
          </p:nvSpPr>
          <p:spPr>
            <a:xfrm flipH="false" flipV="false" rot="0">
              <a:off x="0" y="0"/>
              <a:ext cx="1661922" cy="1661922"/>
            </a:xfrm>
            <a:custGeom>
              <a:avLst/>
              <a:gdLst/>
              <a:ahLst/>
              <a:cxnLst/>
              <a:rect r="r" b="b" t="t" l="l"/>
              <a:pathLst>
                <a:path h="1661922" w="1661922">
                  <a:moveTo>
                    <a:pt x="0" y="830961"/>
                  </a:moveTo>
                  <a:cubicBezTo>
                    <a:pt x="0" y="1289939"/>
                    <a:pt x="372110" y="1661922"/>
                    <a:pt x="830961" y="1661922"/>
                  </a:cubicBezTo>
                  <a:cubicBezTo>
                    <a:pt x="1289812" y="1661922"/>
                    <a:pt x="1661922" y="1289812"/>
                    <a:pt x="1661922" y="830961"/>
                  </a:cubicBezTo>
                  <a:cubicBezTo>
                    <a:pt x="1661922" y="372110"/>
                    <a:pt x="1289939" y="0"/>
                    <a:pt x="830961" y="0"/>
                  </a:cubicBezTo>
                  <a:cubicBezTo>
                    <a:pt x="371983" y="0"/>
                    <a:pt x="0" y="372110"/>
                    <a:pt x="0" y="830961"/>
                  </a:cubicBezTo>
                  <a:close/>
                </a:path>
              </a:pathLst>
            </a:custGeom>
            <a:solidFill>
              <a:srgbClr val="5755FE"/>
            </a:solidFill>
          </p:spPr>
        </p:sp>
      </p:grpSp>
      <p:grpSp>
        <p:nvGrpSpPr>
          <p:cNvPr name="Group 6" id="6"/>
          <p:cNvGrpSpPr/>
          <p:nvPr/>
        </p:nvGrpSpPr>
        <p:grpSpPr>
          <a:xfrm rot="0">
            <a:off x="7979826" y="457388"/>
            <a:ext cx="1081854" cy="1081851"/>
            <a:chOff x="0" y="0"/>
            <a:chExt cx="1442472" cy="1442468"/>
          </a:xfrm>
        </p:grpSpPr>
        <p:sp>
          <p:nvSpPr>
            <p:cNvPr name="Freeform 7" id="7"/>
            <p:cNvSpPr/>
            <p:nvPr/>
          </p:nvSpPr>
          <p:spPr>
            <a:xfrm flipH="false" flipV="false" rot="0">
              <a:off x="0" y="0"/>
              <a:ext cx="1442466" cy="1442466"/>
            </a:xfrm>
            <a:custGeom>
              <a:avLst/>
              <a:gdLst/>
              <a:ahLst/>
              <a:cxnLst/>
              <a:rect r="r" b="b" t="t" l="l"/>
              <a:pathLst>
                <a:path h="1442466" w="1442466">
                  <a:moveTo>
                    <a:pt x="0" y="721233"/>
                  </a:moveTo>
                  <a:cubicBezTo>
                    <a:pt x="0" y="1119505"/>
                    <a:pt x="322961" y="1442466"/>
                    <a:pt x="721233" y="1442466"/>
                  </a:cubicBezTo>
                  <a:cubicBezTo>
                    <a:pt x="1119505" y="1442466"/>
                    <a:pt x="1442466" y="1119505"/>
                    <a:pt x="1442466" y="721233"/>
                  </a:cubicBezTo>
                  <a:cubicBezTo>
                    <a:pt x="1442466" y="322961"/>
                    <a:pt x="1119505" y="0"/>
                    <a:pt x="721233" y="0"/>
                  </a:cubicBezTo>
                  <a:cubicBezTo>
                    <a:pt x="322961" y="0"/>
                    <a:pt x="0" y="322961"/>
                    <a:pt x="0" y="721233"/>
                  </a:cubicBezTo>
                  <a:close/>
                </a:path>
              </a:pathLst>
            </a:custGeom>
            <a:solidFill>
              <a:srgbClr val="FFFFFF"/>
            </a:solidFill>
          </p:spPr>
        </p:sp>
      </p:grpSp>
      <p:sp>
        <p:nvSpPr>
          <p:cNvPr name="TextBox 8" id="8"/>
          <p:cNvSpPr txBox="true"/>
          <p:nvPr/>
        </p:nvSpPr>
        <p:spPr>
          <a:xfrm rot="0">
            <a:off x="1028700" y="726851"/>
            <a:ext cx="6699093" cy="588645"/>
          </a:xfrm>
          <a:prstGeom prst="rect">
            <a:avLst/>
          </a:prstGeom>
        </p:spPr>
        <p:txBody>
          <a:bodyPr anchor="t" rtlCol="false" tIns="0" lIns="0" bIns="0" rIns="0">
            <a:spAutoFit/>
          </a:bodyPr>
          <a:lstStyle/>
          <a:p>
            <a:pPr algn="l">
              <a:lnSpc>
                <a:spcPts val="4320"/>
              </a:lnSpc>
            </a:pPr>
            <a:r>
              <a:rPr lang="en-US" sz="3600" b="true">
                <a:solidFill>
                  <a:srgbClr val="FFFFFF"/>
                </a:solidFill>
                <a:latin typeface="Helvetica World Bold"/>
                <a:ea typeface="Helvetica World Bold"/>
                <a:cs typeface="Helvetica World Bold"/>
                <a:sym typeface="Helvetica World Bold"/>
              </a:rPr>
              <a:t>project overview </a:t>
            </a:r>
          </a:p>
        </p:txBody>
      </p:sp>
      <p:sp>
        <p:nvSpPr>
          <p:cNvPr name="TextBox 9" id="9"/>
          <p:cNvSpPr txBox="true"/>
          <p:nvPr/>
        </p:nvSpPr>
        <p:spPr>
          <a:xfrm rot="0">
            <a:off x="8142413" y="726851"/>
            <a:ext cx="756681" cy="588645"/>
          </a:xfrm>
          <a:prstGeom prst="rect">
            <a:avLst/>
          </a:prstGeom>
        </p:spPr>
        <p:txBody>
          <a:bodyPr anchor="t" rtlCol="false" tIns="0" lIns="0" bIns="0" rIns="0">
            <a:spAutoFit/>
          </a:bodyPr>
          <a:lstStyle/>
          <a:p>
            <a:pPr algn="ctr">
              <a:lnSpc>
                <a:spcPts val="4320"/>
              </a:lnSpc>
            </a:pPr>
            <a:r>
              <a:rPr lang="en-US" sz="3600" b="true">
                <a:solidFill>
                  <a:srgbClr val="5755FE"/>
                </a:solidFill>
                <a:latin typeface="Helvetica World Bold"/>
                <a:ea typeface="Helvetica World Bold"/>
                <a:cs typeface="Helvetica World Bold"/>
                <a:sym typeface="Helvetica World Bold"/>
              </a:rPr>
              <a:t>2</a:t>
            </a:r>
          </a:p>
        </p:txBody>
      </p:sp>
      <p:sp>
        <p:nvSpPr>
          <p:cNvPr name="TextBox 10" id="10"/>
          <p:cNvSpPr txBox="true"/>
          <p:nvPr/>
        </p:nvSpPr>
        <p:spPr>
          <a:xfrm rot="0">
            <a:off x="654643" y="2228643"/>
            <a:ext cx="5357811" cy="960120"/>
          </a:xfrm>
          <a:prstGeom prst="rect">
            <a:avLst/>
          </a:prstGeom>
        </p:spPr>
        <p:txBody>
          <a:bodyPr anchor="t" rtlCol="false" tIns="0" lIns="0" bIns="0" rIns="0">
            <a:spAutoFit/>
          </a:bodyPr>
          <a:lstStyle/>
          <a:p>
            <a:pPr algn="ctr">
              <a:lnSpc>
                <a:spcPts val="3600"/>
              </a:lnSpc>
            </a:pPr>
            <a:r>
              <a:rPr lang="en-US" sz="3000" b="true">
                <a:solidFill>
                  <a:srgbClr val="5755FE"/>
                </a:solidFill>
                <a:latin typeface="Helvetica World Bold"/>
                <a:ea typeface="Helvetica World Bold"/>
                <a:cs typeface="Helvetica World Bold"/>
                <a:sym typeface="Helvetica World Bold"/>
              </a:rPr>
              <a:t>project objectives</a:t>
            </a:r>
          </a:p>
          <a:p>
            <a:pPr algn="ctr">
              <a:lnSpc>
                <a:spcPts val="3600"/>
              </a:lnSpc>
            </a:pPr>
          </a:p>
        </p:txBody>
      </p:sp>
      <p:sp>
        <p:nvSpPr>
          <p:cNvPr name="TextBox 11" id="11"/>
          <p:cNvSpPr txBox="true"/>
          <p:nvPr/>
        </p:nvSpPr>
        <p:spPr>
          <a:xfrm rot="0">
            <a:off x="-117034" y="2932901"/>
            <a:ext cx="6383385" cy="3258856"/>
          </a:xfrm>
          <a:prstGeom prst="rect">
            <a:avLst/>
          </a:prstGeom>
        </p:spPr>
        <p:txBody>
          <a:bodyPr anchor="t" rtlCol="false" tIns="0" lIns="0" bIns="0" rIns="0">
            <a:spAutoFit/>
          </a:bodyPr>
          <a:lstStyle/>
          <a:p>
            <a:pPr algn="l" marL="347136" indent="-173568" lvl="1">
              <a:lnSpc>
                <a:spcPts val="2894"/>
              </a:lnSpc>
              <a:buFont typeface="Arial"/>
              <a:buChar char="•"/>
            </a:pPr>
            <a:r>
              <a:rPr lang="en-US" sz="1607">
                <a:solidFill>
                  <a:srgbClr val="000000"/>
                </a:solidFill>
                <a:latin typeface="Helvetica World"/>
                <a:ea typeface="Helvetica World"/>
                <a:cs typeface="Helvetica World"/>
                <a:sym typeface="Helvetica World"/>
              </a:rPr>
              <a:t>Devel</a:t>
            </a:r>
            <a:r>
              <a:rPr lang="en-US" sz="1607">
                <a:solidFill>
                  <a:srgbClr val="000000"/>
                </a:solidFill>
                <a:latin typeface="Helvetica World"/>
                <a:ea typeface="Helvetica World"/>
                <a:cs typeface="Helvetica World"/>
                <a:sym typeface="Helvetica World"/>
              </a:rPr>
              <a:t>op a user-friendly interface for data entry and retrieval.</a:t>
            </a:r>
          </a:p>
          <a:p>
            <a:pPr algn="l" marL="347136" indent="-173568" lvl="1">
              <a:lnSpc>
                <a:spcPts val="2894"/>
              </a:lnSpc>
              <a:buFont typeface="Arial"/>
              <a:buChar char="•"/>
            </a:pPr>
            <a:r>
              <a:rPr lang="en-US" sz="1607">
                <a:solidFill>
                  <a:srgbClr val="000000"/>
                </a:solidFill>
                <a:latin typeface="Helvetica World"/>
                <a:ea typeface="Helvetica World"/>
                <a:cs typeface="Helvetica World"/>
                <a:sym typeface="Helvetica World"/>
              </a:rPr>
              <a:t>Integrate real-time data sources, such as weather updates and emergency alerts.</a:t>
            </a:r>
          </a:p>
          <a:p>
            <a:pPr algn="l" marL="368726" indent="-184363" lvl="1">
              <a:lnSpc>
                <a:spcPts val="3074"/>
              </a:lnSpc>
              <a:buFont typeface="Arial"/>
              <a:buChar char="•"/>
            </a:pPr>
            <a:r>
              <a:rPr lang="en-US" sz="1707">
                <a:solidFill>
                  <a:srgbClr val="000000"/>
                </a:solidFill>
                <a:latin typeface="Helvetica World"/>
                <a:ea typeface="Helvetica World"/>
                <a:cs typeface="Helvetica World"/>
                <a:sym typeface="Helvetica World"/>
              </a:rPr>
              <a:t>Create a centralized database to store and manage disaster-related information.</a:t>
            </a:r>
          </a:p>
          <a:p>
            <a:pPr algn="l" marL="347136" indent="-173568" lvl="1">
              <a:lnSpc>
                <a:spcPts val="2894"/>
              </a:lnSpc>
              <a:buFont typeface="Arial"/>
              <a:buChar char="•"/>
            </a:pPr>
            <a:r>
              <a:rPr lang="en-US" sz="1607">
                <a:solidFill>
                  <a:srgbClr val="000000"/>
                </a:solidFill>
                <a:latin typeface="Helvetica World"/>
                <a:ea typeface="Helvetica World"/>
                <a:cs typeface="Helvetica World"/>
                <a:sym typeface="Helvetica World"/>
              </a:rPr>
              <a:t>Implement communication tools to facilitate coordination among different agencies and responders.</a:t>
            </a:r>
          </a:p>
          <a:p>
            <a:pPr algn="l" marL="347136" indent="-173568" lvl="1">
              <a:lnSpc>
                <a:spcPts val="2894"/>
              </a:lnSpc>
              <a:buFont typeface="Arial"/>
              <a:buChar char="•"/>
            </a:pPr>
            <a:r>
              <a:rPr lang="en-US" sz="1607">
                <a:solidFill>
                  <a:srgbClr val="000000"/>
                </a:solidFill>
                <a:latin typeface="Helvetica World"/>
                <a:ea typeface="Helvetica World"/>
                <a:cs typeface="Helvetica World"/>
                <a:sym typeface="Helvetica World"/>
              </a:rPr>
              <a:t>Provide training and support for users to effectively utilize the system.</a:t>
            </a:r>
          </a:p>
        </p:txBody>
      </p:sp>
      <p:sp>
        <p:nvSpPr>
          <p:cNvPr name="TextBox 12" id="12"/>
          <p:cNvSpPr txBox="true"/>
          <p:nvPr/>
        </p:nvSpPr>
        <p:spPr>
          <a:xfrm rot="0">
            <a:off x="395753" y="6191757"/>
            <a:ext cx="5357811" cy="960120"/>
          </a:xfrm>
          <a:prstGeom prst="rect">
            <a:avLst/>
          </a:prstGeom>
        </p:spPr>
        <p:txBody>
          <a:bodyPr anchor="t" rtlCol="false" tIns="0" lIns="0" bIns="0" rIns="0">
            <a:spAutoFit/>
          </a:bodyPr>
          <a:lstStyle/>
          <a:p>
            <a:pPr algn="ctr">
              <a:lnSpc>
                <a:spcPts val="3600"/>
              </a:lnSpc>
            </a:pPr>
            <a:r>
              <a:rPr lang="en-US" sz="3000" b="true">
                <a:solidFill>
                  <a:srgbClr val="5755FE"/>
                </a:solidFill>
                <a:latin typeface="Helvetica World Bold"/>
                <a:ea typeface="Helvetica World Bold"/>
                <a:cs typeface="Helvetica World Bold"/>
                <a:sym typeface="Helvetica World Bold"/>
              </a:rPr>
              <a:t>main entities</a:t>
            </a:r>
          </a:p>
          <a:p>
            <a:pPr algn="ctr">
              <a:lnSpc>
                <a:spcPts val="3600"/>
              </a:lnSpc>
            </a:pPr>
          </a:p>
        </p:txBody>
      </p:sp>
      <p:sp>
        <p:nvSpPr>
          <p:cNvPr name="TextBox 13" id="13"/>
          <p:cNvSpPr txBox="true"/>
          <p:nvPr/>
        </p:nvSpPr>
        <p:spPr>
          <a:xfrm rot="0">
            <a:off x="-258889" y="6716758"/>
            <a:ext cx="6667096" cy="3661682"/>
          </a:xfrm>
          <a:prstGeom prst="rect">
            <a:avLst/>
          </a:prstGeom>
        </p:spPr>
        <p:txBody>
          <a:bodyPr anchor="t" rtlCol="false" tIns="0" lIns="0" bIns="0" rIns="0">
            <a:spAutoFit/>
          </a:bodyPr>
          <a:lstStyle/>
          <a:p>
            <a:pPr algn="l" marL="382452" indent="-191226" lvl="1">
              <a:lnSpc>
                <a:spcPts val="3188"/>
              </a:lnSpc>
              <a:buFont typeface="Arial"/>
              <a:buChar char="•"/>
            </a:pPr>
            <a:r>
              <a:rPr lang="en-US" b="true" sz="1771" u="sng">
                <a:solidFill>
                  <a:srgbClr val="000000"/>
                </a:solidFill>
                <a:latin typeface="Helvetica World Bold"/>
                <a:ea typeface="Helvetica World Bold"/>
                <a:cs typeface="Helvetica World Bold"/>
                <a:sym typeface="Helvetica World Bold"/>
              </a:rPr>
              <a:t>D</a:t>
            </a:r>
            <a:r>
              <a:rPr lang="en-US" b="true" sz="1771" u="sng">
                <a:solidFill>
                  <a:srgbClr val="000000"/>
                </a:solidFill>
                <a:latin typeface="Helvetica World Bold"/>
                <a:ea typeface="Helvetica World Bold"/>
                <a:cs typeface="Helvetica World Bold"/>
                <a:sym typeface="Helvetica World Bold"/>
              </a:rPr>
              <a:t>isasters</a:t>
            </a:r>
            <a:r>
              <a:rPr lang="en-US" sz="1771">
                <a:solidFill>
                  <a:srgbClr val="000000"/>
                </a:solidFill>
                <a:latin typeface="Helvetica World"/>
                <a:ea typeface="Helvetica World"/>
                <a:cs typeface="Helvetica World"/>
                <a:sym typeface="Helvetica World"/>
              </a:rPr>
              <a:t>: Information about different types of disasters (e.g., floods, earthquakes) including location, severity, and impact.</a:t>
            </a:r>
          </a:p>
          <a:p>
            <a:pPr algn="l" marL="382452" indent="-191226" lvl="1">
              <a:lnSpc>
                <a:spcPts val="3188"/>
              </a:lnSpc>
              <a:buFont typeface="Arial"/>
              <a:buChar char="•"/>
            </a:pPr>
            <a:r>
              <a:rPr lang="en-US" b="true" sz="1771" u="sng">
                <a:solidFill>
                  <a:srgbClr val="000000"/>
                </a:solidFill>
                <a:latin typeface="Helvetica World Bold"/>
                <a:ea typeface="Helvetica World Bold"/>
                <a:cs typeface="Helvetica World Bold"/>
                <a:sym typeface="Helvetica World Bold"/>
              </a:rPr>
              <a:t>Response Teams</a:t>
            </a:r>
            <a:r>
              <a:rPr lang="en-US" sz="1771">
                <a:solidFill>
                  <a:srgbClr val="000000"/>
                </a:solidFill>
                <a:latin typeface="Helvetica World"/>
                <a:ea typeface="Helvetica World"/>
                <a:cs typeface="Helvetica World"/>
                <a:sym typeface="Helvetica World"/>
              </a:rPr>
              <a:t>: Details about various emergency response teams, including their capabilities and current status.</a:t>
            </a:r>
          </a:p>
          <a:p>
            <a:pPr algn="l" marL="382452" indent="-191226" lvl="1">
              <a:lnSpc>
                <a:spcPts val="3188"/>
              </a:lnSpc>
              <a:buFont typeface="Arial"/>
              <a:buChar char="•"/>
            </a:pPr>
            <a:r>
              <a:rPr lang="en-US" b="true" sz="1771" u="sng">
                <a:solidFill>
                  <a:srgbClr val="000000"/>
                </a:solidFill>
                <a:latin typeface="Helvetica World Bold"/>
                <a:ea typeface="Helvetica World Bold"/>
                <a:cs typeface="Helvetica World Bold"/>
                <a:sym typeface="Helvetica World Bold"/>
              </a:rPr>
              <a:t>Resources</a:t>
            </a:r>
            <a:r>
              <a:rPr lang="en-US" sz="1771" u="sng">
                <a:solidFill>
                  <a:srgbClr val="000000"/>
                </a:solidFill>
                <a:latin typeface="Helvetica World"/>
                <a:ea typeface="Helvetica World"/>
                <a:cs typeface="Helvetica World"/>
                <a:sym typeface="Helvetica World"/>
              </a:rPr>
              <a:t>:</a:t>
            </a:r>
            <a:r>
              <a:rPr lang="en-US" sz="1771">
                <a:solidFill>
                  <a:srgbClr val="000000"/>
                </a:solidFill>
                <a:latin typeface="Helvetica World"/>
                <a:ea typeface="Helvetica World"/>
                <a:cs typeface="Helvetica World"/>
                <a:sym typeface="Helvetica World"/>
              </a:rPr>
              <a:t> Inventory of available resources (e.g., medical supplies, food, shelter) and their locations.</a:t>
            </a:r>
          </a:p>
          <a:p>
            <a:pPr algn="l" marL="382452" indent="-191226" lvl="1">
              <a:lnSpc>
                <a:spcPts val="3188"/>
              </a:lnSpc>
              <a:buFont typeface="Arial"/>
              <a:buChar char="•"/>
            </a:pPr>
            <a:r>
              <a:rPr lang="en-US" b="true" sz="1771" u="sng">
                <a:solidFill>
                  <a:srgbClr val="000000"/>
                </a:solidFill>
                <a:latin typeface="Helvetica World Bold"/>
                <a:ea typeface="Helvetica World Bold"/>
                <a:cs typeface="Helvetica World Bold"/>
                <a:sym typeface="Helvetica World Bold"/>
              </a:rPr>
              <a:t>Affected Individuals</a:t>
            </a:r>
            <a:r>
              <a:rPr lang="en-US" sz="1771">
                <a:solidFill>
                  <a:srgbClr val="000000"/>
                </a:solidFill>
                <a:latin typeface="Helvetica World"/>
                <a:ea typeface="Helvetica World"/>
                <a:cs typeface="Helvetica World"/>
                <a:sym typeface="Helvetica World"/>
              </a:rPr>
              <a:t>: Data on individuals impacted by disasters, including their needs and current status.</a:t>
            </a:r>
          </a:p>
          <a:p>
            <a:pPr algn="l">
              <a:lnSpc>
                <a:spcPts val="3188"/>
              </a:lnSpc>
            </a:pPr>
          </a:p>
        </p:txBody>
      </p:sp>
      <p:sp>
        <p:nvSpPr>
          <p:cNvPr name="TextBox 14" id="14"/>
          <p:cNvSpPr txBox="true"/>
          <p:nvPr/>
        </p:nvSpPr>
        <p:spPr>
          <a:xfrm rot="0">
            <a:off x="11833058" y="2228643"/>
            <a:ext cx="5351559" cy="960120"/>
          </a:xfrm>
          <a:prstGeom prst="rect">
            <a:avLst/>
          </a:prstGeom>
        </p:spPr>
        <p:txBody>
          <a:bodyPr anchor="t" rtlCol="false" tIns="0" lIns="0" bIns="0" rIns="0">
            <a:spAutoFit/>
          </a:bodyPr>
          <a:lstStyle/>
          <a:p>
            <a:pPr algn="ctr">
              <a:lnSpc>
                <a:spcPts val="3600"/>
              </a:lnSpc>
            </a:pPr>
            <a:r>
              <a:rPr lang="en-US" sz="3000" b="true">
                <a:solidFill>
                  <a:srgbClr val="5755FE"/>
                </a:solidFill>
                <a:latin typeface="Helvetica World Bold"/>
                <a:ea typeface="Helvetica World Bold"/>
                <a:cs typeface="Helvetica World Bold"/>
                <a:sym typeface="Helvetica World Bold"/>
              </a:rPr>
              <a:t>anticipated benefits</a:t>
            </a:r>
          </a:p>
          <a:p>
            <a:pPr algn="ctr">
              <a:lnSpc>
                <a:spcPts val="3600"/>
              </a:lnSpc>
            </a:pPr>
          </a:p>
        </p:txBody>
      </p:sp>
      <p:sp>
        <p:nvSpPr>
          <p:cNvPr name="TextBox 15" id="15"/>
          <p:cNvSpPr txBox="true"/>
          <p:nvPr/>
        </p:nvSpPr>
        <p:spPr>
          <a:xfrm rot="0">
            <a:off x="10729674" y="3666634"/>
            <a:ext cx="7160544" cy="5378650"/>
          </a:xfrm>
          <a:prstGeom prst="rect">
            <a:avLst/>
          </a:prstGeom>
        </p:spPr>
        <p:txBody>
          <a:bodyPr anchor="t" rtlCol="false" tIns="0" lIns="0" bIns="0" rIns="0">
            <a:spAutoFit/>
          </a:bodyPr>
          <a:lstStyle/>
          <a:p>
            <a:pPr algn="just" marL="386254" indent="-193127" lvl="1">
              <a:lnSpc>
                <a:spcPts val="3220"/>
              </a:lnSpc>
              <a:buFont typeface="Arial"/>
              <a:buChar char="•"/>
            </a:pPr>
            <a:r>
              <a:rPr lang="en-US" b="true" sz="1789" u="sng">
                <a:solidFill>
                  <a:srgbClr val="000000"/>
                </a:solidFill>
                <a:latin typeface="Helvetica World Bold"/>
                <a:ea typeface="Helvetica World Bold"/>
                <a:cs typeface="Helvetica World Bold"/>
                <a:sym typeface="Helvetica World Bold"/>
              </a:rPr>
              <a:t>Faster</a:t>
            </a:r>
            <a:r>
              <a:rPr lang="en-US" b="true" sz="1789" u="sng">
                <a:solidFill>
                  <a:srgbClr val="000000"/>
                </a:solidFill>
                <a:latin typeface="Helvetica World Bold"/>
                <a:ea typeface="Helvetica World Bold"/>
                <a:cs typeface="Helvetica World Bold"/>
                <a:sym typeface="Helvetica World Bold"/>
              </a:rPr>
              <a:t> Response Times:</a:t>
            </a:r>
            <a:r>
              <a:rPr lang="en-US" sz="1789" u="sng">
                <a:solidFill>
                  <a:srgbClr val="000000"/>
                </a:solidFill>
                <a:latin typeface="Helvetica World"/>
                <a:ea typeface="Helvetica World"/>
                <a:cs typeface="Helvetica World"/>
                <a:sym typeface="Helvetica World"/>
              </a:rPr>
              <a:t> </a:t>
            </a:r>
            <a:r>
              <a:rPr lang="en-US" sz="1789">
                <a:solidFill>
                  <a:srgbClr val="000000"/>
                </a:solidFill>
                <a:latin typeface="Helvetica World"/>
                <a:ea typeface="Helvetica World"/>
                <a:cs typeface="Helvetica World"/>
                <a:sym typeface="Helvetica World"/>
              </a:rPr>
              <a:t>By providing real-time data, responders can act more quickly and effectively.</a:t>
            </a:r>
          </a:p>
          <a:p>
            <a:pPr algn="just" marL="386254" indent="-193127" lvl="1">
              <a:lnSpc>
                <a:spcPts val="3220"/>
              </a:lnSpc>
              <a:buFont typeface="Arial"/>
              <a:buChar char="•"/>
            </a:pPr>
            <a:r>
              <a:rPr lang="en-US" b="true" sz="1789" u="sng">
                <a:solidFill>
                  <a:srgbClr val="000000"/>
                </a:solidFill>
                <a:latin typeface="Helvetica World Bold"/>
                <a:ea typeface="Helvetica World Bold"/>
                <a:cs typeface="Helvetica World Bold"/>
                <a:sym typeface="Helvetica World Bold"/>
              </a:rPr>
              <a:t>Better Resource Management</a:t>
            </a:r>
            <a:r>
              <a:rPr lang="en-US" sz="1789">
                <a:solidFill>
                  <a:srgbClr val="000000"/>
                </a:solidFill>
                <a:latin typeface="Helvetica World"/>
                <a:ea typeface="Helvetica World"/>
                <a:cs typeface="Helvetica World"/>
                <a:sym typeface="Helvetica World"/>
              </a:rPr>
              <a:t>: Improved tracking of resources ensures that aid reaches those who need it most.</a:t>
            </a:r>
          </a:p>
          <a:p>
            <a:pPr algn="just" marL="407845" indent="-203923" lvl="1">
              <a:lnSpc>
                <a:spcPts val="3400"/>
              </a:lnSpc>
              <a:buFont typeface="Arial"/>
              <a:buChar char="•"/>
            </a:pPr>
            <a:r>
              <a:rPr lang="en-US" b="true" sz="1889">
                <a:solidFill>
                  <a:srgbClr val="000000"/>
                </a:solidFill>
                <a:latin typeface="Helvetica World Bold"/>
                <a:ea typeface="Helvetica World Bold"/>
                <a:cs typeface="Helvetica World Bold"/>
                <a:sym typeface="Helvetica World Bold"/>
              </a:rPr>
              <a:t>I</a:t>
            </a:r>
            <a:r>
              <a:rPr lang="en-US" b="true" sz="1889" u="sng">
                <a:solidFill>
                  <a:srgbClr val="000000"/>
                </a:solidFill>
                <a:latin typeface="Helvetica World Bold"/>
                <a:ea typeface="Helvetica World Bold"/>
                <a:cs typeface="Helvetica World Bold"/>
                <a:sym typeface="Helvetica World Bold"/>
              </a:rPr>
              <a:t>nformed Decision-Making</a:t>
            </a:r>
            <a:r>
              <a:rPr lang="en-US" sz="1889" u="sng">
                <a:solidFill>
                  <a:srgbClr val="000000"/>
                </a:solidFill>
                <a:latin typeface="Helvetica World"/>
                <a:ea typeface="Helvetica World"/>
                <a:cs typeface="Helvetica World"/>
                <a:sym typeface="Helvetica World"/>
              </a:rPr>
              <a:t>:</a:t>
            </a:r>
            <a:r>
              <a:rPr lang="en-US" sz="1889">
                <a:solidFill>
                  <a:srgbClr val="000000"/>
                </a:solidFill>
                <a:latin typeface="Helvetica World"/>
                <a:ea typeface="Helvetica World"/>
                <a:cs typeface="Helvetica World"/>
                <a:sym typeface="Helvetica World"/>
              </a:rPr>
              <a:t> Access to accurate information allows for better planning and execution of disaster response strategies.</a:t>
            </a:r>
          </a:p>
          <a:p>
            <a:pPr algn="just" marL="386254" indent="-193127" lvl="1">
              <a:lnSpc>
                <a:spcPts val="3220"/>
              </a:lnSpc>
              <a:buFont typeface="Arial"/>
              <a:buChar char="•"/>
            </a:pPr>
            <a:r>
              <a:rPr lang="en-US" b="true" sz="1789" u="sng">
                <a:solidFill>
                  <a:srgbClr val="000000"/>
                </a:solidFill>
                <a:latin typeface="Helvetica World Bold"/>
                <a:ea typeface="Helvetica World Bold"/>
                <a:cs typeface="Helvetica World Bold"/>
                <a:sym typeface="Helvetica World Bold"/>
              </a:rPr>
              <a:t>Community Resilience: </a:t>
            </a:r>
            <a:r>
              <a:rPr lang="en-US" sz="1789">
                <a:solidFill>
                  <a:srgbClr val="000000"/>
                </a:solidFill>
                <a:latin typeface="Helvetica World"/>
                <a:ea typeface="Helvetica World"/>
                <a:cs typeface="Helvetica World"/>
                <a:sym typeface="Helvetica World"/>
              </a:rPr>
              <a:t>Empowering communities with information helps them prepare for and recover from disasters more effectively.</a:t>
            </a:r>
          </a:p>
          <a:p>
            <a:pPr algn="just" marL="386254" indent="-193127" lvl="1">
              <a:lnSpc>
                <a:spcPts val="3220"/>
              </a:lnSpc>
              <a:buFont typeface="Arial"/>
              <a:buChar char="•"/>
            </a:pPr>
            <a:r>
              <a:rPr lang="en-US" b="true" sz="1789" u="sng">
                <a:solidFill>
                  <a:srgbClr val="000000"/>
                </a:solidFill>
                <a:latin typeface="Helvetica World Bold"/>
                <a:ea typeface="Helvetica World Bold"/>
                <a:cs typeface="Helvetica World Bold"/>
                <a:sym typeface="Helvetica World Bold"/>
              </a:rPr>
              <a:t>Collaboration:</a:t>
            </a:r>
            <a:r>
              <a:rPr lang="en-US" sz="1789">
                <a:solidFill>
                  <a:srgbClr val="000000"/>
                </a:solidFill>
                <a:latin typeface="Helvetica World"/>
                <a:ea typeface="Helvetica World"/>
                <a:cs typeface="Helvetica World"/>
                <a:sym typeface="Helvetica World"/>
              </a:rPr>
              <a:t> Enhanced communication between agencies and organizations leads to a more coordinated response effort</a:t>
            </a:r>
          </a:p>
          <a:p>
            <a:pPr algn="just">
              <a:lnSpc>
                <a:spcPts val="3220"/>
              </a:lnSpc>
            </a:pPr>
          </a:p>
        </p:txBody>
      </p:sp>
      <p:sp>
        <p:nvSpPr>
          <p:cNvPr name="Freeform 16" id="16"/>
          <p:cNvSpPr/>
          <p:nvPr/>
        </p:nvSpPr>
        <p:spPr>
          <a:xfrm flipH="false" flipV="false" rot="0">
            <a:off x="8788569" y="4275905"/>
            <a:ext cx="2382415" cy="2187490"/>
          </a:xfrm>
          <a:custGeom>
            <a:avLst/>
            <a:gdLst/>
            <a:ahLst/>
            <a:cxnLst/>
            <a:rect r="r" b="b" t="t" l="l"/>
            <a:pathLst>
              <a:path h="2187490" w="2382415">
                <a:moveTo>
                  <a:pt x="0" y="0"/>
                </a:moveTo>
                <a:lnTo>
                  <a:pt x="2382414" y="0"/>
                </a:lnTo>
                <a:lnTo>
                  <a:pt x="2382414" y="2187490"/>
                </a:lnTo>
                <a:lnTo>
                  <a:pt x="0" y="21874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false" rot="0">
            <a:off x="6383385" y="3795845"/>
            <a:ext cx="2382415" cy="2187490"/>
          </a:xfrm>
          <a:custGeom>
            <a:avLst/>
            <a:gdLst/>
            <a:ahLst/>
            <a:cxnLst/>
            <a:rect r="r" b="b" t="t" l="l"/>
            <a:pathLst>
              <a:path h="2187490" w="2382415">
                <a:moveTo>
                  <a:pt x="2382415" y="0"/>
                </a:moveTo>
                <a:lnTo>
                  <a:pt x="0" y="0"/>
                </a:lnTo>
                <a:lnTo>
                  <a:pt x="0" y="2187490"/>
                </a:lnTo>
                <a:lnTo>
                  <a:pt x="2382415" y="2187490"/>
                </a:lnTo>
                <a:lnTo>
                  <a:pt x="238241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true" rot="0">
            <a:off x="6536586" y="6155934"/>
            <a:ext cx="2382415" cy="2187490"/>
          </a:xfrm>
          <a:custGeom>
            <a:avLst/>
            <a:gdLst/>
            <a:ahLst/>
            <a:cxnLst/>
            <a:rect r="r" b="b" t="t" l="l"/>
            <a:pathLst>
              <a:path h="2187490" w="2382415">
                <a:moveTo>
                  <a:pt x="2382414" y="2187489"/>
                </a:moveTo>
                <a:lnTo>
                  <a:pt x="0" y="2187489"/>
                </a:lnTo>
                <a:lnTo>
                  <a:pt x="0" y="0"/>
                </a:lnTo>
                <a:lnTo>
                  <a:pt x="2382414" y="0"/>
                </a:lnTo>
                <a:lnTo>
                  <a:pt x="2382414" y="2187489"/>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DAGi7IQWRis</dc:identifier>
  <dcterms:modified xsi:type="dcterms:W3CDTF">2011-08-01T06:04:30Z</dcterms:modified>
  <cp:revision>1</cp:revision>
  <dc:title>Capstone Project</dc:title>
</cp:coreProperties>
</file>