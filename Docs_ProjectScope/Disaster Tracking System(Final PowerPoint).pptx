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oppins Bold" panose="020B0604020202020204" charset="0"/>
      <p:regular r:id="rId17"/>
    </p:embeddedFont>
    <p:embeddedFont>
      <p:font typeface="Poppins" panose="020B0604020202020204" charset="0"/>
      <p:regular r:id="rId18"/>
    </p:embeddedFont>
    <p:embeddedFont>
      <p:font typeface="Montserrat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22" autoAdjust="0"/>
  </p:normalViewPr>
  <p:slideViewPr>
    <p:cSldViewPr>
      <p:cViewPr>
        <p:scale>
          <a:sx n="54" d="100"/>
          <a:sy n="54" d="100"/>
        </p:scale>
        <p:origin x="29" y="52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vance-Shyaka/Mon_27237_Vivance_Disastertracking_db" TargetMode="External"/><Relationship Id="rId2" Type="http://schemas.openxmlformats.org/officeDocument/2006/relationships/hyperlink" Target="mailto:shyaka.vivance@auca.ac.rw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994425" y="2547794"/>
            <a:ext cx="925811" cy="723816"/>
          </a:xfrm>
          <a:custGeom>
            <a:avLst/>
            <a:gdLst/>
            <a:ahLst/>
            <a:cxnLst/>
            <a:rect l="l" t="t" r="r" b="b"/>
            <a:pathLst>
              <a:path w="925811" h="723816">
                <a:moveTo>
                  <a:pt x="0" y="0"/>
                </a:moveTo>
                <a:lnTo>
                  <a:pt x="925811" y="0"/>
                </a:lnTo>
                <a:lnTo>
                  <a:pt x="925811" y="723815"/>
                </a:lnTo>
                <a:lnTo>
                  <a:pt x="0" y="723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67764" y="7015391"/>
            <a:ext cx="925811" cy="723816"/>
          </a:xfrm>
          <a:custGeom>
            <a:avLst/>
            <a:gdLst/>
            <a:ahLst/>
            <a:cxnLst/>
            <a:rect l="l" t="t" r="r" b="b"/>
            <a:pathLst>
              <a:path w="925811" h="723816">
                <a:moveTo>
                  <a:pt x="0" y="0"/>
                </a:moveTo>
                <a:lnTo>
                  <a:pt x="925811" y="0"/>
                </a:lnTo>
                <a:lnTo>
                  <a:pt x="925811" y="723815"/>
                </a:lnTo>
                <a:lnTo>
                  <a:pt x="0" y="723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67764" y="3147784"/>
            <a:ext cx="11552472" cy="260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8"/>
              </a:lnSpc>
            </a:pPr>
            <a:r>
              <a:rPr lang="en-US" sz="8000" b="1" spc="752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Disaster Tracking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25351" y="6009449"/>
            <a:ext cx="7237297" cy="1005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3200" spc="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Student: </a:t>
            </a:r>
            <a:r>
              <a:rPr lang="en-US" sz="3200" spc="3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Shyaka</a:t>
            </a:r>
            <a:r>
              <a:rPr lang="en-US" sz="3200" spc="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Vivance (ID: 27237)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83011" y="9158315"/>
            <a:ext cx="3276289" cy="19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91"/>
              </a:lnSpc>
            </a:pPr>
            <a:r>
              <a:rPr lang="en-US" sz="1346" spc="1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2024-2025 Academic Year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322051">
            <a:off x="3686901" y="4520414"/>
            <a:ext cx="16913687" cy="2890703"/>
          </a:xfrm>
          <a:custGeom>
            <a:avLst/>
            <a:gdLst/>
            <a:ahLst/>
            <a:cxnLst/>
            <a:rect l="l" t="t" r="r" b="b"/>
            <a:pathLst>
              <a:path w="16913687" h="2890703">
                <a:moveTo>
                  <a:pt x="0" y="0"/>
                </a:moveTo>
                <a:lnTo>
                  <a:pt x="16913687" y="0"/>
                </a:lnTo>
                <a:lnTo>
                  <a:pt x="16913687" y="2890703"/>
                </a:lnTo>
                <a:lnTo>
                  <a:pt x="0" y="289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03668"/>
            <a:ext cx="5476452" cy="62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682" b="1" spc="346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207719"/>
            <a:ext cx="18010735" cy="751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1118" lvl="1" indent="-420559">
              <a:lnSpc>
                <a:spcPts val="4893"/>
              </a:lnSpc>
              <a:buFont typeface="Arial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Poppins" panose="020B0604020202020204" charset="0"/>
                <a:ea typeface="Helvetica World"/>
                <a:cs typeface="Poppins" panose="020B0604020202020204" charset="0"/>
                <a:sym typeface="Helvetica World"/>
              </a:rPr>
              <a:t>This project </a:t>
            </a:r>
            <a:r>
              <a:rPr lang="en-US" sz="3600" dirty="0">
                <a:solidFill>
                  <a:srgbClr val="000000"/>
                </a:solidFill>
                <a:latin typeface="Poppins" panose="020B0604020202020204" charset="0"/>
                <a:ea typeface="Helvetica World"/>
                <a:cs typeface="Poppins" panose="020B0604020202020204" charset="0"/>
                <a:sym typeface="Helvetica World"/>
              </a:rPr>
              <a:t>aims to address the challenges of managing and responding to natural disasters, such as floods, earthquakes, and </a:t>
            </a:r>
            <a:r>
              <a:rPr lang="en-US" sz="3600" dirty="0" smtClean="0">
                <a:solidFill>
                  <a:srgbClr val="000000"/>
                </a:solidFill>
                <a:latin typeface="Poppins" panose="020B0604020202020204" charset="0"/>
                <a:ea typeface="Helvetica World"/>
                <a:cs typeface="Poppins" panose="020B0604020202020204" charset="0"/>
                <a:sym typeface="Helvetica World"/>
              </a:rPr>
              <a:t>hurricanes</a:t>
            </a:r>
          </a:p>
          <a:p>
            <a:pPr marL="420559" lvl="1">
              <a:lnSpc>
                <a:spcPts val="4893"/>
              </a:lnSpc>
            </a:pPr>
            <a:endParaRPr lang="en-US" sz="3600" spc="366" dirty="0">
              <a:solidFill>
                <a:srgbClr val="0318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841118" lvl="1" indent="-420559" algn="l">
              <a:lnSpc>
                <a:spcPts val="4893"/>
              </a:lnSpc>
              <a:buFont typeface="Arial"/>
              <a:buChar char="•"/>
            </a:pPr>
            <a:r>
              <a:rPr lang="en-US" sz="3600" spc="366" dirty="0">
                <a:solidFill>
                  <a:srgbClr val="03180C"/>
                </a:solidFill>
                <a:latin typeface="Poppins"/>
                <a:ea typeface="Poppins"/>
                <a:cs typeface="Poppins"/>
                <a:sym typeface="Poppins"/>
              </a:rPr>
              <a:t>Designed to support different </a:t>
            </a:r>
            <a:r>
              <a:rPr lang="en-US" sz="3600" spc="366" dirty="0" smtClean="0">
                <a:solidFill>
                  <a:srgbClr val="03180C"/>
                </a:solidFill>
                <a:latin typeface="Poppins"/>
                <a:ea typeface="Poppins"/>
                <a:cs typeface="Poppins"/>
                <a:sym typeface="Poppins"/>
              </a:rPr>
              <a:t>users, </a:t>
            </a:r>
            <a:r>
              <a:rPr lang="en-US" sz="3600" spc="366" dirty="0">
                <a:solidFill>
                  <a:srgbClr val="03180C"/>
                </a:solidFill>
                <a:latin typeface="Poppins"/>
                <a:ea typeface="Poppins"/>
                <a:cs typeface="Poppins"/>
                <a:sym typeface="Poppins"/>
              </a:rPr>
              <a:t>such as citizens, response teams, administrators, and NGOs</a:t>
            </a:r>
          </a:p>
          <a:p>
            <a:pPr algn="l">
              <a:lnSpc>
                <a:spcPts val="4893"/>
              </a:lnSpc>
            </a:pPr>
            <a:endParaRPr lang="en-US" sz="3600" spc="366" dirty="0">
              <a:solidFill>
                <a:srgbClr val="0318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841118" lvl="1" indent="-420559" algn="l">
              <a:lnSpc>
                <a:spcPts val="4893"/>
              </a:lnSpc>
              <a:buFont typeface="Arial"/>
              <a:buChar char="•"/>
            </a:pPr>
            <a:r>
              <a:rPr lang="en-US" sz="3600" spc="366" dirty="0">
                <a:solidFill>
                  <a:srgbClr val="03180C"/>
                </a:solidFill>
                <a:latin typeface="Poppins"/>
                <a:ea typeface="Poppins"/>
                <a:cs typeface="Poppins"/>
                <a:sym typeface="Poppins"/>
              </a:rPr>
              <a:t>The solution integrates Oracle Database, PL/SQL, GitHub for versioning, BPMN.io for process modeling, and OEM Express for monitoring.</a:t>
            </a:r>
          </a:p>
          <a:p>
            <a:pPr algn="l">
              <a:lnSpc>
                <a:spcPts val="4893"/>
              </a:lnSpc>
            </a:pPr>
            <a:endParaRPr lang="en-US" sz="3600" spc="366" dirty="0">
              <a:solidFill>
                <a:srgbClr val="0318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841118" lvl="1" indent="-420559" algn="l">
              <a:lnSpc>
                <a:spcPts val="4893"/>
              </a:lnSpc>
              <a:buFont typeface="Arial"/>
              <a:buChar char="•"/>
            </a:pPr>
            <a:r>
              <a:rPr lang="en-US" sz="3600" spc="366" dirty="0">
                <a:solidFill>
                  <a:srgbClr val="03180C"/>
                </a:solidFill>
                <a:latin typeface="Poppins"/>
                <a:ea typeface="Poppins"/>
                <a:cs typeface="Poppins"/>
                <a:sym typeface="Poppins"/>
              </a:rPr>
              <a:t>Key features: structured reporting, audit logging, automated </a:t>
            </a:r>
            <a:r>
              <a:rPr lang="en-US" sz="3600" spc="366" dirty="0" smtClean="0">
                <a:solidFill>
                  <a:srgbClr val="03180C"/>
                </a:solidFill>
                <a:latin typeface="Poppins"/>
                <a:ea typeface="Poppins"/>
                <a:cs typeface="Poppins"/>
                <a:sym typeface="Poppins"/>
              </a:rPr>
              <a:t>workflows ,and  </a:t>
            </a:r>
            <a:r>
              <a:rPr lang="en-US" sz="3600" spc="366" dirty="0">
                <a:solidFill>
                  <a:srgbClr val="03180C"/>
                </a:solidFill>
                <a:latin typeface="Poppins"/>
                <a:ea typeface="Poppins"/>
                <a:cs typeface="Poppins"/>
                <a:sym typeface="Poppins"/>
              </a:rPr>
              <a:t>SLA compliance.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93016" y="399178"/>
            <a:ext cx="9087612" cy="2205827"/>
            <a:chOff x="0" y="0"/>
            <a:chExt cx="2393445" cy="580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3445" cy="580958"/>
            </a:xfrm>
            <a:custGeom>
              <a:avLst/>
              <a:gdLst/>
              <a:ahLst/>
              <a:cxnLst/>
              <a:rect l="l" t="t" r="r" b="b"/>
              <a:pathLst>
                <a:path w="2393445" h="580958">
                  <a:moveTo>
                    <a:pt x="9371" y="0"/>
                  </a:moveTo>
                  <a:lnTo>
                    <a:pt x="2384074" y="0"/>
                  </a:lnTo>
                  <a:cubicBezTo>
                    <a:pt x="2389250" y="0"/>
                    <a:pt x="2393445" y="4196"/>
                    <a:pt x="2393445" y="9371"/>
                  </a:cubicBezTo>
                  <a:lnTo>
                    <a:pt x="2393445" y="571587"/>
                  </a:lnTo>
                  <a:cubicBezTo>
                    <a:pt x="2393445" y="576763"/>
                    <a:pt x="2389250" y="580958"/>
                    <a:pt x="2384074" y="580958"/>
                  </a:cubicBezTo>
                  <a:lnTo>
                    <a:pt x="9371" y="580958"/>
                  </a:lnTo>
                  <a:cubicBezTo>
                    <a:pt x="4196" y="580958"/>
                    <a:pt x="0" y="576763"/>
                    <a:pt x="0" y="571587"/>
                  </a:cubicBezTo>
                  <a:lnTo>
                    <a:pt x="0" y="9371"/>
                  </a:lnTo>
                  <a:cubicBezTo>
                    <a:pt x="0" y="4196"/>
                    <a:pt x="4196" y="0"/>
                    <a:pt x="9371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393445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37651" y="2965874"/>
            <a:ext cx="9087612" cy="2213639"/>
            <a:chOff x="0" y="0"/>
            <a:chExt cx="2393445" cy="5830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93445" cy="583016"/>
            </a:xfrm>
            <a:custGeom>
              <a:avLst/>
              <a:gdLst/>
              <a:ahLst/>
              <a:cxnLst/>
              <a:rect l="l" t="t" r="r" b="b"/>
              <a:pathLst>
                <a:path w="2393445" h="583016">
                  <a:moveTo>
                    <a:pt x="9371" y="0"/>
                  </a:moveTo>
                  <a:lnTo>
                    <a:pt x="2384074" y="0"/>
                  </a:lnTo>
                  <a:cubicBezTo>
                    <a:pt x="2389250" y="0"/>
                    <a:pt x="2393445" y="4196"/>
                    <a:pt x="2393445" y="9371"/>
                  </a:cubicBezTo>
                  <a:lnTo>
                    <a:pt x="2393445" y="573645"/>
                  </a:lnTo>
                  <a:cubicBezTo>
                    <a:pt x="2393445" y="578820"/>
                    <a:pt x="2389250" y="583016"/>
                    <a:pt x="2384074" y="583016"/>
                  </a:cubicBezTo>
                  <a:lnTo>
                    <a:pt x="9371" y="583016"/>
                  </a:lnTo>
                  <a:cubicBezTo>
                    <a:pt x="4196" y="583016"/>
                    <a:pt x="0" y="578820"/>
                    <a:pt x="0" y="573645"/>
                  </a:cubicBezTo>
                  <a:lnTo>
                    <a:pt x="0" y="9371"/>
                  </a:lnTo>
                  <a:cubicBezTo>
                    <a:pt x="0" y="4196"/>
                    <a:pt x="4196" y="0"/>
                    <a:pt x="9371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393445" cy="63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93016" y="5550988"/>
            <a:ext cx="9087612" cy="2205827"/>
            <a:chOff x="0" y="0"/>
            <a:chExt cx="2393445" cy="5809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93445" cy="580958"/>
            </a:xfrm>
            <a:custGeom>
              <a:avLst/>
              <a:gdLst/>
              <a:ahLst/>
              <a:cxnLst/>
              <a:rect l="l" t="t" r="r" b="b"/>
              <a:pathLst>
                <a:path w="2393445" h="580958">
                  <a:moveTo>
                    <a:pt x="9371" y="0"/>
                  </a:moveTo>
                  <a:lnTo>
                    <a:pt x="2384074" y="0"/>
                  </a:lnTo>
                  <a:cubicBezTo>
                    <a:pt x="2389250" y="0"/>
                    <a:pt x="2393445" y="4196"/>
                    <a:pt x="2393445" y="9371"/>
                  </a:cubicBezTo>
                  <a:lnTo>
                    <a:pt x="2393445" y="571587"/>
                  </a:lnTo>
                  <a:cubicBezTo>
                    <a:pt x="2393445" y="576763"/>
                    <a:pt x="2389250" y="580958"/>
                    <a:pt x="2384074" y="580958"/>
                  </a:cubicBezTo>
                  <a:lnTo>
                    <a:pt x="9371" y="580958"/>
                  </a:lnTo>
                  <a:cubicBezTo>
                    <a:pt x="4196" y="580958"/>
                    <a:pt x="0" y="576763"/>
                    <a:pt x="0" y="571587"/>
                  </a:cubicBezTo>
                  <a:lnTo>
                    <a:pt x="0" y="9371"/>
                  </a:lnTo>
                  <a:cubicBezTo>
                    <a:pt x="0" y="4196"/>
                    <a:pt x="4196" y="0"/>
                    <a:pt x="9371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393445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37651" y="399178"/>
            <a:ext cx="211970" cy="2205827"/>
            <a:chOff x="0" y="0"/>
            <a:chExt cx="55828" cy="5809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828" cy="580958"/>
            </a:xfrm>
            <a:custGeom>
              <a:avLst/>
              <a:gdLst/>
              <a:ahLst/>
              <a:cxnLst/>
              <a:rect l="l" t="t" r="r" b="b"/>
              <a:pathLst>
                <a:path w="55828" h="580958">
                  <a:moveTo>
                    <a:pt x="0" y="0"/>
                  </a:moveTo>
                  <a:lnTo>
                    <a:pt x="55828" y="0"/>
                  </a:lnTo>
                  <a:lnTo>
                    <a:pt x="55828" y="580958"/>
                  </a:lnTo>
                  <a:lnTo>
                    <a:pt x="0" y="580958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582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87031" y="2973686"/>
            <a:ext cx="211970" cy="2205827"/>
            <a:chOff x="0" y="0"/>
            <a:chExt cx="55828" cy="5809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828" cy="580958"/>
            </a:xfrm>
            <a:custGeom>
              <a:avLst/>
              <a:gdLst/>
              <a:ahLst/>
              <a:cxnLst/>
              <a:rect l="l" t="t" r="r" b="b"/>
              <a:pathLst>
                <a:path w="55828" h="580958">
                  <a:moveTo>
                    <a:pt x="0" y="0"/>
                  </a:moveTo>
                  <a:lnTo>
                    <a:pt x="55828" y="0"/>
                  </a:lnTo>
                  <a:lnTo>
                    <a:pt x="55828" y="580958"/>
                  </a:lnTo>
                  <a:lnTo>
                    <a:pt x="0" y="580958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582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31666" y="5541463"/>
            <a:ext cx="211970" cy="2205827"/>
            <a:chOff x="0" y="0"/>
            <a:chExt cx="55828" cy="5809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828" cy="580958"/>
            </a:xfrm>
            <a:custGeom>
              <a:avLst/>
              <a:gdLst/>
              <a:ahLst/>
              <a:cxnLst/>
              <a:rect l="l" t="t" r="r" b="b"/>
              <a:pathLst>
                <a:path w="55828" h="580958">
                  <a:moveTo>
                    <a:pt x="0" y="0"/>
                  </a:moveTo>
                  <a:lnTo>
                    <a:pt x="55828" y="0"/>
                  </a:lnTo>
                  <a:lnTo>
                    <a:pt x="55828" y="580958"/>
                  </a:lnTo>
                  <a:lnTo>
                    <a:pt x="0" y="580958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5582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806024" y="1426444"/>
            <a:ext cx="6430415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Current disaster response systems lack centralized control, timely communication, and data traceability.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52886" y="3996482"/>
            <a:ext cx="6430415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 data entry, validate and classify reports, assign response teams, and log all actions securely.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6024" y="6625326"/>
            <a:ext cx="6430415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Digital transformation requires embracing change, adapting to new technologies, and collaborating effectively.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52886" y="651105"/>
            <a:ext cx="4714399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6024" y="3220842"/>
            <a:ext cx="4714399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Goal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4799" y="4261560"/>
            <a:ext cx="5389245" cy="135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146" b="1" spc="389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Requirements and Scope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52886" y="5798638"/>
            <a:ext cx="4714399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743637" y="8081173"/>
            <a:ext cx="9087612" cy="2205827"/>
            <a:chOff x="0" y="0"/>
            <a:chExt cx="2393445" cy="58095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93445" cy="580958"/>
            </a:xfrm>
            <a:custGeom>
              <a:avLst/>
              <a:gdLst/>
              <a:ahLst/>
              <a:cxnLst/>
              <a:rect l="l" t="t" r="r" b="b"/>
              <a:pathLst>
                <a:path w="2393445" h="580958">
                  <a:moveTo>
                    <a:pt x="9371" y="0"/>
                  </a:moveTo>
                  <a:lnTo>
                    <a:pt x="2384074" y="0"/>
                  </a:lnTo>
                  <a:cubicBezTo>
                    <a:pt x="2389250" y="0"/>
                    <a:pt x="2393445" y="4196"/>
                    <a:pt x="2393445" y="9371"/>
                  </a:cubicBezTo>
                  <a:lnTo>
                    <a:pt x="2393445" y="571587"/>
                  </a:lnTo>
                  <a:cubicBezTo>
                    <a:pt x="2393445" y="576763"/>
                    <a:pt x="2389250" y="580958"/>
                    <a:pt x="2384074" y="580958"/>
                  </a:cubicBezTo>
                  <a:lnTo>
                    <a:pt x="9371" y="580958"/>
                  </a:lnTo>
                  <a:cubicBezTo>
                    <a:pt x="4196" y="580958"/>
                    <a:pt x="0" y="576763"/>
                    <a:pt x="0" y="571587"/>
                  </a:cubicBezTo>
                  <a:lnTo>
                    <a:pt x="0" y="9371"/>
                  </a:lnTo>
                  <a:cubicBezTo>
                    <a:pt x="0" y="4196"/>
                    <a:pt x="4196" y="0"/>
                    <a:pt x="9371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2393445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31666" y="8081173"/>
            <a:ext cx="211970" cy="2205827"/>
            <a:chOff x="0" y="0"/>
            <a:chExt cx="55828" cy="58095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5828" cy="580958"/>
            </a:xfrm>
            <a:custGeom>
              <a:avLst/>
              <a:gdLst/>
              <a:ahLst/>
              <a:cxnLst/>
              <a:rect l="l" t="t" r="r" b="b"/>
              <a:pathLst>
                <a:path w="55828" h="580958">
                  <a:moveTo>
                    <a:pt x="0" y="0"/>
                  </a:moveTo>
                  <a:lnTo>
                    <a:pt x="55828" y="0"/>
                  </a:lnTo>
                  <a:lnTo>
                    <a:pt x="55828" y="580958"/>
                  </a:lnTo>
                  <a:lnTo>
                    <a:pt x="0" y="580958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5582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752886" y="8375939"/>
            <a:ext cx="4714399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Users &amp; Stakeholders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52886" y="8973820"/>
            <a:ext cx="6430415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Citizens, Admins, Government Agencies, Response Teams, NGOs.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95590" y="8012719"/>
            <a:ext cx="6627664" cy="2205827"/>
            <a:chOff x="0" y="0"/>
            <a:chExt cx="1745558" cy="58095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45558" cy="580958"/>
            </a:xfrm>
            <a:custGeom>
              <a:avLst/>
              <a:gdLst/>
              <a:ahLst/>
              <a:cxnLst/>
              <a:rect l="l" t="t" r="r" b="b"/>
              <a:pathLst>
                <a:path w="1745558" h="580958">
                  <a:moveTo>
                    <a:pt x="12849" y="0"/>
                  </a:moveTo>
                  <a:lnTo>
                    <a:pt x="1732708" y="0"/>
                  </a:lnTo>
                  <a:cubicBezTo>
                    <a:pt x="1736116" y="0"/>
                    <a:pt x="1739384" y="1354"/>
                    <a:pt x="1741794" y="3763"/>
                  </a:cubicBezTo>
                  <a:cubicBezTo>
                    <a:pt x="1744204" y="6173"/>
                    <a:pt x="1745558" y="9441"/>
                    <a:pt x="1745558" y="12849"/>
                  </a:cubicBezTo>
                  <a:lnTo>
                    <a:pt x="1745558" y="568109"/>
                  </a:lnTo>
                  <a:cubicBezTo>
                    <a:pt x="1745558" y="575206"/>
                    <a:pt x="1739805" y="580958"/>
                    <a:pt x="1732708" y="580958"/>
                  </a:cubicBezTo>
                  <a:lnTo>
                    <a:pt x="12849" y="580958"/>
                  </a:lnTo>
                  <a:cubicBezTo>
                    <a:pt x="5753" y="580958"/>
                    <a:pt x="0" y="575206"/>
                    <a:pt x="0" y="568109"/>
                  </a:cubicBezTo>
                  <a:lnTo>
                    <a:pt x="0" y="12849"/>
                  </a:lnTo>
                  <a:cubicBezTo>
                    <a:pt x="0" y="5753"/>
                    <a:pt x="5753" y="0"/>
                    <a:pt x="12849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74555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9605" y="8012719"/>
            <a:ext cx="211970" cy="2205827"/>
            <a:chOff x="0" y="0"/>
            <a:chExt cx="55828" cy="58095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5828" cy="580958"/>
            </a:xfrm>
            <a:custGeom>
              <a:avLst/>
              <a:gdLst/>
              <a:ahLst/>
              <a:cxnLst/>
              <a:rect l="l" t="t" r="r" b="b"/>
              <a:pathLst>
                <a:path w="55828" h="580958">
                  <a:moveTo>
                    <a:pt x="0" y="0"/>
                  </a:moveTo>
                  <a:lnTo>
                    <a:pt x="55828" y="0"/>
                  </a:lnTo>
                  <a:lnTo>
                    <a:pt x="55828" y="580958"/>
                  </a:lnTo>
                  <a:lnTo>
                    <a:pt x="0" y="580958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5582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28700" y="8057500"/>
            <a:ext cx="4714399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Scope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8831153"/>
            <a:ext cx="592724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Focused on database logic, audit control, and BPMN-modeled workflows.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8280" y="1834896"/>
            <a:ext cx="6627664" cy="8107086"/>
            <a:chOff x="0" y="0"/>
            <a:chExt cx="1745558" cy="213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5558" cy="2135200"/>
            </a:xfrm>
            <a:custGeom>
              <a:avLst/>
              <a:gdLst/>
              <a:ahLst/>
              <a:cxnLst/>
              <a:rect l="l" t="t" r="r" b="b"/>
              <a:pathLst>
                <a:path w="1745558" h="2135200">
                  <a:moveTo>
                    <a:pt x="12849" y="0"/>
                  </a:moveTo>
                  <a:lnTo>
                    <a:pt x="1732708" y="0"/>
                  </a:lnTo>
                  <a:cubicBezTo>
                    <a:pt x="1736116" y="0"/>
                    <a:pt x="1739384" y="1354"/>
                    <a:pt x="1741794" y="3763"/>
                  </a:cubicBezTo>
                  <a:cubicBezTo>
                    <a:pt x="1744204" y="6173"/>
                    <a:pt x="1745558" y="9441"/>
                    <a:pt x="1745558" y="12849"/>
                  </a:cubicBezTo>
                  <a:lnTo>
                    <a:pt x="1745558" y="2122350"/>
                  </a:lnTo>
                  <a:cubicBezTo>
                    <a:pt x="1745558" y="2129447"/>
                    <a:pt x="1739805" y="2135200"/>
                    <a:pt x="1732708" y="2135200"/>
                  </a:cubicBezTo>
                  <a:lnTo>
                    <a:pt x="12849" y="2135200"/>
                  </a:lnTo>
                  <a:cubicBezTo>
                    <a:pt x="9441" y="2135200"/>
                    <a:pt x="6173" y="2133846"/>
                    <a:pt x="3763" y="2131436"/>
                  </a:cubicBezTo>
                  <a:cubicBezTo>
                    <a:pt x="1354" y="2129026"/>
                    <a:pt x="0" y="2125758"/>
                    <a:pt x="0" y="2122350"/>
                  </a:cubicBezTo>
                  <a:lnTo>
                    <a:pt x="0" y="12849"/>
                  </a:lnTo>
                  <a:cubicBezTo>
                    <a:pt x="0" y="5753"/>
                    <a:pt x="5753" y="0"/>
                    <a:pt x="12849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5558" cy="21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834896"/>
            <a:ext cx="489605" cy="8107086"/>
            <a:chOff x="0" y="0"/>
            <a:chExt cx="128949" cy="2135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949" cy="2135200"/>
            </a:xfrm>
            <a:custGeom>
              <a:avLst/>
              <a:gdLst/>
              <a:ahLst/>
              <a:cxnLst/>
              <a:rect l="l" t="t" r="r" b="b"/>
              <a:pathLst>
                <a:path w="128949" h="2135200">
                  <a:moveTo>
                    <a:pt x="0" y="0"/>
                  </a:moveTo>
                  <a:lnTo>
                    <a:pt x="128949" y="0"/>
                  </a:lnTo>
                  <a:lnTo>
                    <a:pt x="128949" y="2135200"/>
                  </a:lnTo>
                  <a:lnTo>
                    <a:pt x="0" y="2135200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8949" cy="21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23254" y="1028700"/>
            <a:ext cx="10815107" cy="6370124"/>
            <a:chOff x="0" y="0"/>
            <a:chExt cx="1675543" cy="9868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5543" cy="986899"/>
            </a:xfrm>
            <a:custGeom>
              <a:avLst/>
              <a:gdLst/>
              <a:ahLst/>
              <a:cxnLst/>
              <a:rect l="l" t="t" r="r" b="b"/>
              <a:pathLst>
                <a:path w="1675543" h="986899">
                  <a:moveTo>
                    <a:pt x="0" y="0"/>
                  </a:moveTo>
                  <a:lnTo>
                    <a:pt x="1675543" y="0"/>
                  </a:lnTo>
                  <a:lnTo>
                    <a:pt x="1675543" y="986899"/>
                  </a:lnTo>
                  <a:lnTo>
                    <a:pt x="0" y="986899"/>
                  </a:lnTo>
                  <a:close/>
                </a:path>
              </a:pathLst>
            </a:custGeom>
            <a:blipFill>
              <a:blip r:embed="rId2"/>
              <a:stretch>
                <a:fillRect l="-1915" r="-191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89605" y="334293"/>
            <a:ext cx="5389245" cy="69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146" b="1" spc="389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BPMN Modeling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7028" y="2103308"/>
            <a:ext cx="6128916" cy="10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Used bpmn.io to model the entire disaster reporting and resolution workflow.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864" y="3929282"/>
            <a:ext cx="5927244" cy="219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Citizen/Reporter: Triggers disaster events, submits reports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System: Validates input, logs data, restricts operations on holidays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Admin: Confirms severity, assigns teams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Response Team: Executes actions, evaluates needs, locates individuals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NGO Coordinator: Delivers aid, coordinates supplies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6192" y="3349670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Swimlanes: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028" y="6355617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Includes: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674057"/>
            <a:ext cx="5927244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Message Flows between lanes (e.g., Citizen → System)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Exclusive Gateways for conditions (e.g., “Is report valid?”)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7864" y="8033592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Output: Exported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536" y="8609207"/>
            <a:ext cx="592724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.bpmn and .png for documentation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8280" y="1834896"/>
            <a:ext cx="6627664" cy="8107086"/>
            <a:chOff x="0" y="0"/>
            <a:chExt cx="1745558" cy="213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5558" cy="2135200"/>
            </a:xfrm>
            <a:custGeom>
              <a:avLst/>
              <a:gdLst/>
              <a:ahLst/>
              <a:cxnLst/>
              <a:rect l="l" t="t" r="r" b="b"/>
              <a:pathLst>
                <a:path w="1745558" h="2135200">
                  <a:moveTo>
                    <a:pt x="12849" y="0"/>
                  </a:moveTo>
                  <a:lnTo>
                    <a:pt x="1732708" y="0"/>
                  </a:lnTo>
                  <a:cubicBezTo>
                    <a:pt x="1736116" y="0"/>
                    <a:pt x="1739384" y="1354"/>
                    <a:pt x="1741794" y="3763"/>
                  </a:cubicBezTo>
                  <a:cubicBezTo>
                    <a:pt x="1744204" y="6173"/>
                    <a:pt x="1745558" y="9441"/>
                    <a:pt x="1745558" y="12849"/>
                  </a:cubicBezTo>
                  <a:lnTo>
                    <a:pt x="1745558" y="2122350"/>
                  </a:lnTo>
                  <a:cubicBezTo>
                    <a:pt x="1745558" y="2129447"/>
                    <a:pt x="1739805" y="2135200"/>
                    <a:pt x="1732708" y="2135200"/>
                  </a:cubicBezTo>
                  <a:lnTo>
                    <a:pt x="12849" y="2135200"/>
                  </a:lnTo>
                  <a:cubicBezTo>
                    <a:pt x="9441" y="2135200"/>
                    <a:pt x="6173" y="2133846"/>
                    <a:pt x="3763" y="2131436"/>
                  </a:cubicBezTo>
                  <a:cubicBezTo>
                    <a:pt x="1354" y="2129026"/>
                    <a:pt x="0" y="2125758"/>
                    <a:pt x="0" y="2122350"/>
                  </a:cubicBezTo>
                  <a:lnTo>
                    <a:pt x="0" y="12849"/>
                  </a:lnTo>
                  <a:cubicBezTo>
                    <a:pt x="0" y="5753"/>
                    <a:pt x="5753" y="0"/>
                    <a:pt x="12849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5558" cy="21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834896"/>
            <a:ext cx="489605" cy="8107086"/>
            <a:chOff x="0" y="0"/>
            <a:chExt cx="128949" cy="2135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949" cy="2135200"/>
            </a:xfrm>
            <a:custGeom>
              <a:avLst/>
              <a:gdLst/>
              <a:ahLst/>
              <a:cxnLst/>
              <a:rect l="l" t="t" r="r" b="b"/>
              <a:pathLst>
                <a:path w="128949" h="2135200">
                  <a:moveTo>
                    <a:pt x="0" y="0"/>
                  </a:moveTo>
                  <a:lnTo>
                    <a:pt x="128949" y="0"/>
                  </a:lnTo>
                  <a:lnTo>
                    <a:pt x="128949" y="2135200"/>
                  </a:lnTo>
                  <a:lnTo>
                    <a:pt x="0" y="2135200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8949" cy="21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23254" y="400968"/>
            <a:ext cx="10815107" cy="9709389"/>
            <a:chOff x="0" y="0"/>
            <a:chExt cx="1675543" cy="15042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5543" cy="1504239"/>
            </a:xfrm>
            <a:custGeom>
              <a:avLst/>
              <a:gdLst/>
              <a:ahLst/>
              <a:cxnLst/>
              <a:rect l="l" t="t" r="r" b="b"/>
              <a:pathLst>
                <a:path w="1675543" h="1504239">
                  <a:moveTo>
                    <a:pt x="0" y="0"/>
                  </a:moveTo>
                  <a:lnTo>
                    <a:pt x="1675543" y="0"/>
                  </a:lnTo>
                  <a:lnTo>
                    <a:pt x="1675543" y="1504239"/>
                  </a:lnTo>
                  <a:lnTo>
                    <a:pt x="0" y="1504239"/>
                  </a:lnTo>
                  <a:close/>
                </a:path>
              </a:pathLst>
            </a:custGeom>
            <a:blipFill>
              <a:blip r:embed="rId2"/>
              <a:stretch>
                <a:fillRect t="-8346" b="-834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89605" y="334293"/>
            <a:ext cx="5389245" cy="69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146" b="1" spc="389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ERD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7028" y="2103308"/>
            <a:ext cx="6128916" cy="10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Entity-Relationship Diagram captures logical structure of the database.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864" y="3929282"/>
            <a:ext cx="5927244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Disaster(id, type, location, severity, date, status)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Response_Team(id, name, specialty, availability)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Resource(id, name, type, quantity)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Affected_Individual(id, name, age, status, disaster_id)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Team_Assignment(team_id, disaster_id, assigned_date)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6192" y="3349670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Entities: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028" y="5803167"/>
            <a:ext cx="6128916" cy="6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Constraints: PKs, FKs, unique indexes.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7028" y="6980277"/>
            <a:ext cx="6128916" cy="10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>
              <a:lnSpc>
                <a:spcPts val="2637"/>
              </a:lnSpc>
              <a:buFont typeface="Arial"/>
              <a:buChar char="•"/>
            </a:pPr>
            <a:r>
              <a:rPr lang="en-US" sz="2100" b="1" spc="197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Normalization: Applied to 3rd Normal Form (3NF) to eliminate redundancy.</a:t>
            </a:r>
            <a:endParaRPr lang="en-US" sz="2100" b="1" spc="197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27028" y="8489342"/>
            <a:ext cx="6128916" cy="10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used: SQL Developer ERD viewer, optionally verified in draw.io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8280" y="1834896"/>
            <a:ext cx="6627664" cy="8107086"/>
            <a:chOff x="0" y="0"/>
            <a:chExt cx="1745558" cy="213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5558" cy="2135200"/>
            </a:xfrm>
            <a:custGeom>
              <a:avLst/>
              <a:gdLst/>
              <a:ahLst/>
              <a:cxnLst/>
              <a:rect l="l" t="t" r="r" b="b"/>
              <a:pathLst>
                <a:path w="1745558" h="2135200">
                  <a:moveTo>
                    <a:pt x="12849" y="0"/>
                  </a:moveTo>
                  <a:lnTo>
                    <a:pt x="1732708" y="0"/>
                  </a:lnTo>
                  <a:cubicBezTo>
                    <a:pt x="1736116" y="0"/>
                    <a:pt x="1739384" y="1354"/>
                    <a:pt x="1741794" y="3763"/>
                  </a:cubicBezTo>
                  <a:cubicBezTo>
                    <a:pt x="1744204" y="6173"/>
                    <a:pt x="1745558" y="9441"/>
                    <a:pt x="1745558" y="12849"/>
                  </a:cubicBezTo>
                  <a:lnTo>
                    <a:pt x="1745558" y="2122350"/>
                  </a:lnTo>
                  <a:cubicBezTo>
                    <a:pt x="1745558" y="2129447"/>
                    <a:pt x="1739805" y="2135200"/>
                    <a:pt x="1732708" y="2135200"/>
                  </a:cubicBezTo>
                  <a:lnTo>
                    <a:pt x="12849" y="2135200"/>
                  </a:lnTo>
                  <a:cubicBezTo>
                    <a:pt x="9441" y="2135200"/>
                    <a:pt x="6173" y="2133846"/>
                    <a:pt x="3763" y="2131436"/>
                  </a:cubicBezTo>
                  <a:cubicBezTo>
                    <a:pt x="1354" y="2129026"/>
                    <a:pt x="0" y="2125758"/>
                    <a:pt x="0" y="2122350"/>
                  </a:cubicBezTo>
                  <a:lnTo>
                    <a:pt x="0" y="12849"/>
                  </a:lnTo>
                  <a:cubicBezTo>
                    <a:pt x="0" y="5753"/>
                    <a:pt x="5753" y="0"/>
                    <a:pt x="12849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5558" cy="21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834896"/>
            <a:ext cx="489605" cy="8107086"/>
            <a:chOff x="0" y="0"/>
            <a:chExt cx="128949" cy="2135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949" cy="2135200"/>
            </a:xfrm>
            <a:custGeom>
              <a:avLst/>
              <a:gdLst/>
              <a:ahLst/>
              <a:cxnLst/>
              <a:rect l="l" t="t" r="r" b="b"/>
              <a:pathLst>
                <a:path w="128949" h="2135200">
                  <a:moveTo>
                    <a:pt x="0" y="0"/>
                  </a:moveTo>
                  <a:lnTo>
                    <a:pt x="128949" y="0"/>
                  </a:lnTo>
                  <a:lnTo>
                    <a:pt x="128949" y="2135200"/>
                  </a:lnTo>
                  <a:lnTo>
                    <a:pt x="0" y="2135200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8949" cy="21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89827" y="329195"/>
            <a:ext cx="9948534" cy="4416697"/>
            <a:chOff x="0" y="0"/>
            <a:chExt cx="1541288" cy="6842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1288" cy="684262"/>
            </a:xfrm>
            <a:custGeom>
              <a:avLst/>
              <a:gdLst/>
              <a:ahLst/>
              <a:cxnLst/>
              <a:rect l="l" t="t" r="r" b="b"/>
              <a:pathLst>
                <a:path w="1541288" h="684262">
                  <a:moveTo>
                    <a:pt x="0" y="0"/>
                  </a:moveTo>
                  <a:lnTo>
                    <a:pt x="1541288" y="0"/>
                  </a:lnTo>
                  <a:lnTo>
                    <a:pt x="1541288" y="684262"/>
                  </a:lnTo>
                  <a:lnTo>
                    <a:pt x="0" y="684262"/>
                  </a:lnTo>
                  <a:close/>
                </a:path>
              </a:pathLst>
            </a:custGeom>
            <a:blipFill>
              <a:blip r:embed="rId2"/>
              <a:stretch>
                <a:fillRect t="-13479" b="-1347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089827" y="5122643"/>
            <a:ext cx="9948534" cy="5075502"/>
            <a:chOff x="0" y="0"/>
            <a:chExt cx="1541288" cy="7863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1288" cy="786328"/>
            </a:xfrm>
            <a:custGeom>
              <a:avLst/>
              <a:gdLst/>
              <a:ahLst/>
              <a:cxnLst/>
              <a:rect l="l" t="t" r="r" b="b"/>
              <a:pathLst>
                <a:path w="1541288" h="786328">
                  <a:moveTo>
                    <a:pt x="0" y="0"/>
                  </a:moveTo>
                  <a:lnTo>
                    <a:pt x="1541288" y="0"/>
                  </a:lnTo>
                  <a:lnTo>
                    <a:pt x="1541288" y="786328"/>
                  </a:lnTo>
                  <a:lnTo>
                    <a:pt x="0" y="786328"/>
                  </a:lnTo>
                  <a:close/>
                </a:path>
              </a:pathLst>
            </a:custGeom>
            <a:blipFill>
              <a:blip r:embed="rId3"/>
              <a:stretch>
                <a:fillRect t="-962" b="-96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489605" y="334293"/>
            <a:ext cx="5389245" cy="69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146" b="1" spc="389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Setup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7028" y="2103308"/>
            <a:ext cx="6128916" cy="10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Entity-Relationship Diagram captures logical structure of the database.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7864" y="3929282"/>
            <a:ext cx="5927244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TABLE Disaster (...);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TABLE Response_Team (...);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TABLE Resource (...);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192" y="3349670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Created schema using SQL: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6192" y="5114925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Created schema using SQL: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859864"/>
            <a:ext cx="592724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USER vivance IDENTIFIED BY password;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GRANT CONNECT, RESOURCE TO vivance;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7028" y="6800299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Created schema using SQL: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7375914"/>
            <a:ext cx="592724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ALTER SESSION SET CONTAINER = MON_27237_VIVANCE_DISASTERTS_DB;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7028" y="8316348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Confirmed container name using: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8973820"/>
            <a:ext cx="592724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SELECT SYS_CONTEXT('USERENV','CON_NAME') FROM DUAL;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8280" y="1834896"/>
            <a:ext cx="6627664" cy="8107086"/>
            <a:chOff x="0" y="0"/>
            <a:chExt cx="1745558" cy="213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5558" cy="2135200"/>
            </a:xfrm>
            <a:custGeom>
              <a:avLst/>
              <a:gdLst/>
              <a:ahLst/>
              <a:cxnLst/>
              <a:rect l="l" t="t" r="r" b="b"/>
              <a:pathLst>
                <a:path w="1745558" h="2135200">
                  <a:moveTo>
                    <a:pt x="12849" y="0"/>
                  </a:moveTo>
                  <a:lnTo>
                    <a:pt x="1732708" y="0"/>
                  </a:lnTo>
                  <a:cubicBezTo>
                    <a:pt x="1736116" y="0"/>
                    <a:pt x="1739384" y="1354"/>
                    <a:pt x="1741794" y="3763"/>
                  </a:cubicBezTo>
                  <a:cubicBezTo>
                    <a:pt x="1744204" y="6173"/>
                    <a:pt x="1745558" y="9441"/>
                    <a:pt x="1745558" y="12849"/>
                  </a:cubicBezTo>
                  <a:lnTo>
                    <a:pt x="1745558" y="2122350"/>
                  </a:lnTo>
                  <a:cubicBezTo>
                    <a:pt x="1745558" y="2129447"/>
                    <a:pt x="1739805" y="2135200"/>
                    <a:pt x="1732708" y="2135200"/>
                  </a:cubicBezTo>
                  <a:lnTo>
                    <a:pt x="12849" y="2135200"/>
                  </a:lnTo>
                  <a:cubicBezTo>
                    <a:pt x="9441" y="2135200"/>
                    <a:pt x="6173" y="2133846"/>
                    <a:pt x="3763" y="2131436"/>
                  </a:cubicBezTo>
                  <a:cubicBezTo>
                    <a:pt x="1354" y="2129026"/>
                    <a:pt x="0" y="2125758"/>
                    <a:pt x="0" y="2122350"/>
                  </a:cubicBezTo>
                  <a:lnTo>
                    <a:pt x="0" y="12849"/>
                  </a:lnTo>
                  <a:cubicBezTo>
                    <a:pt x="0" y="5753"/>
                    <a:pt x="5753" y="0"/>
                    <a:pt x="12849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5558" cy="21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834896"/>
            <a:ext cx="489605" cy="8107086"/>
            <a:chOff x="0" y="0"/>
            <a:chExt cx="128949" cy="2135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949" cy="2135200"/>
            </a:xfrm>
            <a:custGeom>
              <a:avLst/>
              <a:gdLst/>
              <a:ahLst/>
              <a:cxnLst/>
              <a:rect l="l" t="t" r="r" b="b"/>
              <a:pathLst>
                <a:path w="128949" h="2135200">
                  <a:moveTo>
                    <a:pt x="0" y="0"/>
                  </a:moveTo>
                  <a:lnTo>
                    <a:pt x="128949" y="0"/>
                  </a:lnTo>
                  <a:lnTo>
                    <a:pt x="128949" y="2135200"/>
                  </a:lnTo>
                  <a:lnTo>
                    <a:pt x="0" y="2135200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8949" cy="21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89827" y="410145"/>
            <a:ext cx="9948534" cy="4428666"/>
            <a:chOff x="0" y="0"/>
            <a:chExt cx="1541288" cy="6861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1288" cy="686116"/>
            </a:xfrm>
            <a:custGeom>
              <a:avLst/>
              <a:gdLst/>
              <a:ahLst/>
              <a:cxnLst/>
              <a:rect l="l" t="t" r="r" b="b"/>
              <a:pathLst>
                <a:path w="1541288" h="686116">
                  <a:moveTo>
                    <a:pt x="0" y="0"/>
                  </a:moveTo>
                  <a:lnTo>
                    <a:pt x="1541288" y="0"/>
                  </a:lnTo>
                  <a:lnTo>
                    <a:pt x="1541288" y="686116"/>
                  </a:lnTo>
                  <a:lnTo>
                    <a:pt x="0" y="686116"/>
                  </a:lnTo>
                  <a:close/>
                </a:path>
              </a:pathLst>
            </a:custGeom>
            <a:blipFill>
              <a:blip r:embed="rId2"/>
              <a:stretch>
                <a:fillRect l="-3928" r="-392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089827" y="5143500"/>
            <a:ext cx="9948534" cy="4971784"/>
            <a:chOff x="0" y="0"/>
            <a:chExt cx="1541288" cy="7702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1288" cy="770259"/>
            </a:xfrm>
            <a:custGeom>
              <a:avLst/>
              <a:gdLst/>
              <a:ahLst/>
              <a:cxnLst/>
              <a:rect l="l" t="t" r="r" b="b"/>
              <a:pathLst>
                <a:path w="1541288" h="770259">
                  <a:moveTo>
                    <a:pt x="0" y="0"/>
                  </a:moveTo>
                  <a:lnTo>
                    <a:pt x="1541288" y="0"/>
                  </a:lnTo>
                  <a:lnTo>
                    <a:pt x="1541288" y="770259"/>
                  </a:lnTo>
                  <a:lnTo>
                    <a:pt x="0" y="770259"/>
                  </a:lnTo>
                  <a:close/>
                </a:path>
              </a:pathLst>
            </a:custGeom>
            <a:blipFill>
              <a:blip r:embed="rId3"/>
              <a:stretch>
                <a:fillRect t="-10357" b="-1035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489605" y="334293"/>
            <a:ext cx="5389245" cy="69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146" b="1" spc="389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PL/SQL Logic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7028" y="2103308"/>
            <a:ext cx="6128916" cy="10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Entity-Relationship Diagram captures logical structure of the database.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7864" y="3929282"/>
            <a:ext cx="592724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Procedure: Assign team to disaster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Function: Count affected individuals by disaster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192" y="3349670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Encapsulated complex logic via: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6192" y="5114925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Code examples: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859864"/>
            <a:ext cx="5927244" cy="10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PROCEDURE Assign_Team(p_disaster_id IN NUMBER, p_team_id IN NUMBER)  IS BEGIN ... END;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FUNCTION Count_Affected(p_disaster_id IN NUMBER) RETURN NUMBER IS ...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375914"/>
            <a:ext cx="592724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OR REPLACE PACKAGE pkg_disaster_ops AS ... END;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7028" y="8316348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8973820"/>
            <a:ext cx="592724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Reusability, clarity, modular testing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7028" y="6990799"/>
            <a:ext cx="6128916" cy="34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37"/>
              </a:lnSpc>
              <a:buFont typeface="Arial"/>
              <a:buChar char="•"/>
            </a:pPr>
            <a:r>
              <a:rPr lang="en-US" sz="2100" b="1" spc="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Wrapped into PL/SQL Package: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3932" y="-7979953"/>
            <a:ext cx="16683574" cy="13745924"/>
            <a:chOff x="0" y="0"/>
            <a:chExt cx="986504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6504" cy="812800"/>
            </a:xfrm>
            <a:custGeom>
              <a:avLst/>
              <a:gdLst/>
              <a:ahLst/>
              <a:cxnLst/>
              <a:rect l="l" t="t" r="r" b="b"/>
              <a:pathLst>
                <a:path w="986504" h="812800">
                  <a:moveTo>
                    <a:pt x="493252" y="0"/>
                  </a:moveTo>
                  <a:cubicBezTo>
                    <a:pt x="220836" y="0"/>
                    <a:pt x="0" y="181951"/>
                    <a:pt x="0" y="406400"/>
                  </a:cubicBezTo>
                  <a:cubicBezTo>
                    <a:pt x="0" y="630849"/>
                    <a:pt x="220836" y="812800"/>
                    <a:pt x="493252" y="812800"/>
                  </a:cubicBezTo>
                  <a:cubicBezTo>
                    <a:pt x="765668" y="812800"/>
                    <a:pt x="986504" y="630849"/>
                    <a:pt x="986504" y="406400"/>
                  </a:cubicBezTo>
                  <a:cubicBezTo>
                    <a:pt x="986504" y="181951"/>
                    <a:pt x="765668" y="0"/>
                    <a:pt x="4932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19075" cap="sq">
              <a:gradFill>
                <a:gsLst>
                  <a:gs pos="0">
                    <a:srgbClr val="2B2B2B">
                      <a:alpha val="100000"/>
                    </a:srgbClr>
                  </a:gs>
                  <a:gs pos="100000">
                    <a:srgbClr val="69BC46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485" y="28575"/>
              <a:ext cx="801534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60519" y="1025679"/>
            <a:ext cx="1055766" cy="105576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12867" y="4898168"/>
            <a:ext cx="1055766" cy="105576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54603" y="5180276"/>
            <a:ext cx="1055766" cy="105576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13826" y="3681681"/>
            <a:ext cx="1055766" cy="105576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295168" y="2380092"/>
            <a:ext cx="3386468" cy="137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Improved command of Oracle DB &amp; PL/SQL (procedures, functions, triggers)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81621" y="6250280"/>
            <a:ext cx="2718257" cy="103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Integrated OEM Express for live database monitoring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9252" y="6534690"/>
            <a:ext cx="3386468" cy="693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Used GitHub for structured collaboration and backup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48475" y="5036094"/>
            <a:ext cx="3386468" cy="103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19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process-oriented thinking through BPMN modeling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70775" y="1111924"/>
            <a:ext cx="1235253" cy="75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9"/>
              </a:lnSpc>
            </a:pPr>
            <a:r>
              <a:rPr lang="en-US" sz="4185" b="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23123" y="4984413"/>
            <a:ext cx="1235253" cy="75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9"/>
              </a:lnSpc>
            </a:pPr>
            <a:r>
              <a:rPr lang="en-US" sz="4185" b="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64859" y="5266521"/>
            <a:ext cx="1235253" cy="75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9"/>
              </a:lnSpc>
            </a:pPr>
            <a:r>
              <a:rPr lang="en-US" sz="4185" b="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4082" y="3767926"/>
            <a:ext cx="1235253" cy="75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9"/>
              </a:lnSpc>
            </a:pPr>
            <a:r>
              <a:rPr lang="en-US" sz="4185" b="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8088" y="7220324"/>
            <a:ext cx="7873621" cy="69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4146" b="1" spc="389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Lessons Learned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09133" cy="10287000"/>
            <a:chOff x="0" y="0"/>
            <a:chExt cx="419716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716" cy="1593725"/>
            </a:xfrm>
            <a:custGeom>
              <a:avLst/>
              <a:gdLst/>
              <a:ahLst/>
              <a:cxnLst/>
              <a:rect l="l" t="t" r="r" b="b"/>
              <a:pathLst>
                <a:path w="419716" h="1593725">
                  <a:moveTo>
                    <a:pt x="0" y="0"/>
                  </a:moveTo>
                  <a:lnTo>
                    <a:pt x="419716" y="0"/>
                  </a:lnTo>
                  <a:lnTo>
                    <a:pt x="41971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76571" r="-76571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2322051">
            <a:off x="3519177" y="3511385"/>
            <a:ext cx="16913687" cy="2890703"/>
          </a:xfrm>
          <a:custGeom>
            <a:avLst/>
            <a:gdLst/>
            <a:ahLst/>
            <a:cxnLst/>
            <a:rect l="l" t="t" r="r" b="b"/>
            <a:pathLst>
              <a:path w="16913687" h="2890703">
                <a:moveTo>
                  <a:pt x="0" y="0"/>
                </a:moveTo>
                <a:lnTo>
                  <a:pt x="16913687" y="0"/>
                </a:lnTo>
                <a:lnTo>
                  <a:pt x="16913687" y="2890703"/>
                </a:lnTo>
                <a:lnTo>
                  <a:pt x="0" y="2890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957880" y="1446767"/>
            <a:ext cx="9885187" cy="139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299" b="1" spc="404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 of the Disaster Tracking System &amp; Tools Used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315542" y="3837871"/>
            <a:ext cx="6587431" cy="3052258"/>
            <a:chOff x="0" y="0"/>
            <a:chExt cx="1734961" cy="8038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34961" cy="803887"/>
            </a:xfrm>
            <a:custGeom>
              <a:avLst/>
              <a:gdLst/>
              <a:ahLst/>
              <a:cxnLst/>
              <a:rect l="l" t="t" r="r" b="b"/>
              <a:pathLst>
                <a:path w="1734961" h="803887">
                  <a:moveTo>
                    <a:pt x="12928" y="0"/>
                  </a:moveTo>
                  <a:lnTo>
                    <a:pt x="1722033" y="0"/>
                  </a:lnTo>
                  <a:cubicBezTo>
                    <a:pt x="1729173" y="0"/>
                    <a:pt x="1734961" y="5788"/>
                    <a:pt x="1734961" y="12928"/>
                  </a:cubicBezTo>
                  <a:lnTo>
                    <a:pt x="1734961" y="790959"/>
                  </a:lnTo>
                  <a:cubicBezTo>
                    <a:pt x="1734961" y="798099"/>
                    <a:pt x="1729173" y="803887"/>
                    <a:pt x="1722033" y="803887"/>
                  </a:cubicBezTo>
                  <a:lnTo>
                    <a:pt x="12928" y="803887"/>
                  </a:lnTo>
                  <a:cubicBezTo>
                    <a:pt x="5788" y="803887"/>
                    <a:pt x="0" y="798099"/>
                    <a:pt x="0" y="790959"/>
                  </a:cubicBezTo>
                  <a:lnTo>
                    <a:pt x="0" y="12928"/>
                  </a:lnTo>
                  <a:cubicBezTo>
                    <a:pt x="0" y="5788"/>
                    <a:pt x="5788" y="0"/>
                    <a:pt x="12928" y="0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734961" cy="851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237420" y="3837871"/>
            <a:ext cx="6587431" cy="5707883"/>
            <a:chOff x="0" y="0"/>
            <a:chExt cx="1734961" cy="15033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4961" cy="1503311"/>
            </a:xfrm>
            <a:custGeom>
              <a:avLst/>
              <a:gdLst/>
              <a:ahLst/>
              <a:cxnLst/>
              <a:rect l="l" t="t" r="r" b="b"/>
              <a:pathLst>
                <a:path w="1734961" h="1503311">
                  <a:moveTo>
                    <a:pt x="12928" y="0"/>
                  </a:moveTo>
                  <a:lnTo>
                    <a:pt x="1722033" y="0"/>
                  </a:lnTo>
                  <a:cubicBezTo>
                    <a:pt x="1729173" y="0"/>
                    <a:pt x="1734961" y="5788"/>
                    <a:pt x="1734961" y="12928"/>
                  </a:cubicBezTo>
                  <a:lnTo>
                    <a:pt x="1734961" y="1490383"/>
                  </a:lnTo>
                  <a:cubicBezTo>
                    <a:pt x="1734961" y="1497523"/>
                    <a:pt x="1729173" y="1503311"/>
                    <a:pt x="1722033" y="1503311"/>
                  </a:cubicBezTo>
                  <a:lnTo>
                    <a:pt x="12928" y="1503311"/>
                  </a:lnTo>
                  <a:cubicBezTo>
                    <a:pt x="5788" y="1503311"/>
                    <a:pt x="0" y="1497523"/>
                    <a:pt x="0" y="1490383"/>
                  </a:cubicBezTo>
                  <a:lnTo>
                    <a:pt x="0" y="12928"/>
                  </a:lnTo>
                  <a:cubicBezTo>
                    <a:pt x="0" y="5788"/>
                    <a:pt x="5788" y="0"/>
                    <a:pt x="12928" y="0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34961" cy="1550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461013" y="4141165"/>
            <a:ext cx="5718619" cy="35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9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Benefits of the Disaster Tracking System: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43903" y="4141165"/>
            <a:ext cx="5718619" cy="35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9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89917" y="4636498"/>
            <a:ext cx="5882437" cy="302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Centralized Control: Streamlines disaster reporting and response coordination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Automated Workflows: Validates reports, assigns teams, and tracks SLAs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Audit Compliance: Logs all actions with timestamps and user details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Improved Response Times: Timer-based SLAs ensure rapid team deployment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Integrity: 3NF-normalized database with referential constraints</a:t>
            </a:r>
          </a:p>
          <a:p>
            <a:pPr algn="l">
              <a:lnSpc>
                <a:spcPts val="2240"/>
              </a:lnSpc>
            </a:pPr>
            <a:endParaRPr lang="en-US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643903" y="4636498"/>
            <a:ext cx="5718619" cy="192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Oracle SQL Developer: Database design &amp; PL/SQL development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BPMN.io: Process modeling for disaster workflows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OEM Express: Real-time database monitoring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GitHub: Version control &amp; collaboration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SQL*Plus: SYS-level database configuration</a:t>
            </a:r>
          </a:p>
          <a:p>
            <a:pPr algn="l">
              <a:lnSpc>
                <a:spcPts val="2240"/>
              </a:lnSpc>
            </a:pPr>
            <a:endParaRPr lang="en-US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7513" y="-4343522"/>
            <a:ext cx="10223869" cy="8423647"/>
            <a:chOff x="0" y="0"/>
            <a:chExt cx="986504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6504" cy="812800"/>
            </a:xfrm>
            <a:custGeom>
              <a:avLst/>
              <a:gdLst/>
              <a:ahLst/>
              <a:cxnLst/>
              <a:rect l="l" t="t" r="r" b="b"/>
              <a:pathLst>
                <a:path w="986504" h="812800">
                  <a:moveTo>
                    <a:pt x="493252" y="0"/>
                  </a:moveTo>
                  <a:cubicBezTo>
                    <a:pt x="220836" y="0"/>
                    <a:pt x="0" y="181951"/>
                    <a:pt x="0" y="406400"/>
                  </a:cubicBezTo>
                  <a:cubicBezTo>
                    <a:pt x="0" y="630849"/>
                    <a:pt x="220836" y="812800"/>
                    <a:pt x="493252" y="812800"/>
                  </a:cubicBezTo>
                  <a:cubicBezTo>
                    <a:pt x="765668" y="812800"/>
                    <a:pt x="986504" y="630849"/>
                    <a:pt x="986504" y="406400"/>
                  </a:cubicBezTo>
                  <a:cubicBezTo>
                    <a:pt x="986504" y="181951"/>
                    <a:pt x="765668" y="0"/>
                    <a:pt x="4932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19075" cap="sq">
              <a:gradFill>
                <a:gsLst>
                  <a:gs pos="0">
                    <a:srgbClr val="2B2B2B">
                      <a:alpha val="100000"/>
                    </a:srgbClr>
                  </a:gs>
                  <a:gs pos="100000">
                    <a:srgbClr val="69BC46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485" y="28575"/>
              <a:ext cx="801534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52505" y="3916984"/>
            <a:ext cx="11701808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1"/>
              </a:lnSpc>
            </a:pPr>
            <a:r>
              <a:rPr lang="en-US" sz="6163" b="1" spc="579" dirty="0" smtClean="0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REFERENCES:</a:t>
            </a:r>
            <a:endParaRPr lang="en-US" sz="6163" b="1" spc="579" dirty="0">
              <a:solidFill>
                <a:srgbClr val="6ABB4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52505" y="4973398"/>
            <a:ext cx="14339253" cy="243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0556" lvl="1" indent="-250278" algn="l">
              <a:lnSpc>
                <a:spcPts val="3758"/>
              </a:lnSpc>
              <a:buFont typeface="Arial"/>
              <a:buChar char="•"/>
            </a:pPr>
            <a:r>
              <a:rPr lang="en-US" sz="2318" dirty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</a:rPr>
              <a:t>Contact: </a:t>
            </a:r>
            <a:r>
              <a:rPr lang="en-US" sz="2318" dirty="0" smtClean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shyaka.vivance@auca.ac.rw</a:t>
            </a:r>
            <a:endParaRPr lang="en-US" sz="2318" dirty="0" smtClean="0">
              <a:solidFill>
                <a:srgbClr val="CAD6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0556" lvl="1" indent="-250278">
              <a:lnSpc>
                <a:spcPts val="3758"/>
              </a:lnSpc>
              <a:buFont typeface="Arial"/>
              <a:buChar char="•"/>
            </a:pPr>
            <a:r>
              <a:rPr lang="en-US" sz="2318" dirty="0" err="1" smtClean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r>
              <a:rPr lang="en-US" sz="2318" dirty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318" dirty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</a:t>
            </a:r>
            <a:r>
              <a:rPr lang="en-US" sz="2318" dirty="0" smtClean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github.com/Vivance-Shyaka/Mon_27237_Vivance_Disastertracking_db</a:t>
            </a:r>
            <a:endParaRPr lang="en-US" sz="2318" dirty="0">
              <a:solidFill>
                <a:srgbClr val="CAD6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0556" lvl="1" indent="-250278" algn="l">
              <a:lnSpc>
                <a:spcPts val="3758"/>
              </a:lnSpc>
              <a:buFont typeface="Arial"/>
              <a:buChar char="•"/>
            </a:pPr>
            <a:r>
              <a:rPr lang="en-US" sz="2318" dirty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</a:rPr>
              <a:t> Feel free to ask questions on logic, design, or deployment</a:t>
            </a:r>
          </a:p>
          <a:p>
            <a:pPr marL="500556" lvl="1" indent="-250278" algn="l">
              <a:lnSpc>
                <a:spcPts val="3758"/>
              </a:lnSpc>
              <a:buFont typeface="Arial"/>
              <a:buChar char="•"/>
            </a:pPr>
            <a:r>
              <a:rPr lang="en-US" sz="2318" dirty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</a:rPr>
              <a:t> Ready for demo or walkthrough of SQL/GitHub/OEM/BPMN </a:t>
            </a:r>
            <a:r>
              <a:rPr lang="en-US" sz="2318" dirty="0" smtClean="0">
                <a:solidFill>
                  <a:srgbClr val="CAD6DE"/>
                </a:solidFill>
                <a:latin typeface="Montserrat"/>
                <a:ea typeface="Montserrat"/>
                <a:cs typeface="Montserrat"/>
                <a:sym typeface="Montserrat"/>
              </a:rPr>
              <a:t>components</a:t>
            </a:r>
          </a:p>
          <a:p>
            <a:pPr marL="250278" lvl="1" algn="l">
              <a:lnSpc>
                <a:spcPts val="3758"/>
              </a:lnSpc>
            </a:pPr>
            <a:endParaRPr lang="en-US" sz="2318" dirty="0">
              <a:solidFill>
                <a:srgbClr val="CAD6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287000" y="9258300"/>
            <a:ext cx="9906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9198A1"/>
                </a:solidFill>
                <a:latin typeface="-apple-system"/>
              </a:rPr>
              <a:t>"</a:t>
            </a:r>
            <a:r>
              <a:rPr lang="en-US" sz="2000" b="1" i="1" dirty="0">
                <a:solidFill>
                  <a:srgbClr val="9198A1"/>
                </a:solidFill>
                <a:latin typeface="-apple-system"/>
              </a:rPr>
              <a:t>We cannot stop disasters, but we can prepare with knowledge."</a:t>
            </a: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>
                <a:solidFill>
                  <a:srgbClr val="9198A1"/>
                </a:solidFill>
                <a:latin typeface="-apple-system"/>
              </a:rPr>
              <a:t>— </a:t>
            </a:r>
            <a:r>
              <a:rPr lang="en-US" sz="2000" b="1" i="1" dirty="0">
                <a:solidFill>
                  <a:srgbClr val="9198A1"/>
                </a:solidFill>
                <a:latin typeface="-apple-system"/>
              </a:rPr>
              <a:t>Thank you</a:t>
            </a:r>
            <a:endParaRPr lang="en-US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11565847" y="7581900"/>
            <a:ext cx="5350553" cy="1005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7741"/>
              </a:lnSpc>
            </a:pPr>
            <a:r>
              <a:rPr lang="en-US" sz="4800" b="1" spc="579" dirty="0" smtClean="0">
                <a:solidFill>
                  <a:srgbClr val="6ABB43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  <a:endParaRPr lang="en-US" sz="4800" b="1" spc="579" dirty="0">
              <a:solidFill>
                <a:srgbClr val="6ABB4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729</Words>
  <Application>Microsoft Office PowerPoint</Application>
  <PresentationFormat>Custom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Helvetica World</vt:lpstr>
      <vt:lpstr>Calibri</vt:lpstr>
      <vt:lpstr>Poppins Bold</vt:lpstr>
      <vt:lpstr>Poppins</vt:lpstr>
      <vt:lpstr>Arial</vt:lpstr>
      <vt:lpstr>Montserrat</vt:lpstr>
      <vt:lpstr>-apple-system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Tracking System</dc:title>
  <cp:lastModifiedBy>Vivance SHYAKA</cp:lastModifiedBy>
  <cp:revision>7</cp:revision>
  <dcterms:created xsi:type="dcterms:W3CDTF">2006-08-16T00:00:00Z</dcterms:created>
  <dcterms:modified xsi:type="dcterms:W3CDTF">2025-05-24T22:35:16Z</dcterms:modified>
  <dc:identifier>DAGoT5Ud-_g</dc:identifier>
</cp:coreProperties>
</file>